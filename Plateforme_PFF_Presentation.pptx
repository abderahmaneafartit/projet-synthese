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7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08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2952A3">
              <a:alpha val="70000"/>
            </a:srgbClr>
          </a:solidFill>
          <a:ln w="12700">
            <a:solidFill>
              <a:srgbClr val="2952A3">
                <a:alpha val="70000"/>
              </a:srgbClr>
            </a:solidFill>
            <a:prstDash val="solid"/>
          </a:ln>
        </p:spPr>
      </p:sp>
      <p:sp>
        <p:nvSpPr>
          <p:cNvPr id="3" name="Text 1"/>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OFPPT — Projet de Fin de Formation</a:t>
            </a:r>
          </a:p>
          <a:p>
            <a:pPr marL="0" indent="0" algn="ctr">
              <a:buNone/>
            </a:pPr>
            <a:r>
              <a:rPr lang="en-US" sz="1300" dirty="0">
                <a:solidFill>
                  <a:srgbClr val="CADCFC"/>
                </a:solidFill>
                <a:latin typeface="Calibri" pitchFamily="34" charset="0"/>
                <a:ea typeface="Calibri" pitchFamily="34" charset="-122"/>
                <a:cs typeface="Calibri" pitchFamily="34" charset="-120"/>
              </a:rPr>
              <a:t>Dev 204</a:t>
            </a:r>
            <a:endParaRPr lang="en-US" sz="1300" dirty="0"/>
          </a:p>
        </p:txBody>
      </p:sp>
      <p:sp>
        <p:nvSpPr>
          <p:cNvPr id="4" name="Text 2"/>
          <p:cNvSpPr/>
          <p:nvPr/>
        </p:nvSpPr>
        <p:spPr>
          <a:xfrm>
            <a:off x="448432" y="1646922"/>
            <a:ext cx="8229600" cy="1188720"/>
          </a:xfrm>
          <a:prstGeom prst="rect">
            <a:avLst/>
          </a:prstGeom>
          <a:noFill/>
          <a:ln/>
        </p:spPr>
        <p:txBody>
          <a:bodyPr wrap="square" lIns="0" tIns="0" rIns="0" bIns="0" rtlCol="0" anchor="ctr"/>
          <a:lstStyle/>
          <a:p>
            <a:pPr marL="0" indent="0" algn="ctr">
              <a:buNone/>
            </a:pPr>
            <a:r>
              <a:rPr lang="fr-FR" sz="5200" b="1" dirty="0">
                <a:solidFill>
                  <a:srgbClr val="FFFFFF"/>
                </a:solidFill>
                <a:latin typeface="Cambria" pitchFamily="34" charset="0"/>
                <a:ea typeface="Cambria" pitchFamily="34" charset="-122"/>
                <a:cs typeface="Cambria" pitchFamily="34" charset="-120"/>
              </a:rPr>
              <a:t>Plateforme de mise en relation entre clients et prestataires de services</a:t>
            </a:r>
            <a:endParaRPr lang="en-US" sz="5200" dirty="0"/>
          </a:p>
        </p:txBody>
      </p:sp>
      <p:sp>
        <p:nvSpPr>
          <p:cNvPr id="5" name="Text 3"/>
          <p:cNvSpPr/>
          <p:nvPr/>
        </p:nvSpPr>
        <p:spPr>
          <a:xfrm>
            <a:off x="457200" y="3170588"/>
            <a:ext cx="8229600" cy="640080"/>
          </a:xfrm>
          <a:prstGeom prst="rect">
            <a:avLst/>
          </a:prstGeom>
          <a:noFill/>
          <a:ln/>
        </p:spPr>
        <p:txBody>
          <a:bodyPr wrap="square" lIns="0" tIns="0" rIns="0" bIns="0" rtlCol="0" anchor="ctr"/>
          <a:lstStyle/>
          <a:p>
            <a:pPr marL="0" indent="0" algn="ctr">
              <a:buNone/>
            </a:pPr>
            <a:r>
              <a:rPr lang="en-US" sz="2200" dirty="0">
                <a:solidFill>
                  <a:srgbClr val="CADCFC"/>
                </a:solidFill>
                <a:latin typeface="Calibri" pitchFamily="34" charset="0"/>
                <a:ea typeface="Calibri" pitchFamily="34" charset="-122"/>
                <a:cs typeface="Calibri" pitchFamily="34" charset="-120"/>
              </a:rPr>
              <a:t>Mise en relation Clients &amp; Prestataires</a:t>
            </a:r>
            <a:endParaRPr lang="en-US" sz="2200" dirty="0"/>
          </a:p>
        </p:txBody>
      </p:sp>
      <p:sp>
        <p:nvSpPr>
          <p:cNvPr id="6" name="Shape 4"/>
          <p:cNvSpPr/>
          <p:nvPr/>
        </p:nvSpPr>
        <p:spPr>
          <a:xfrm>
            <a:off x="1454272" y="3953590"/>
            <a:ext cx="1280160" cy="384048"/>
          </a:xfrm>
          <a:prstGeom prst="roundRect">
            <a:avLst>
              <a:gd name="adj" fmla="val 19048"/>
            </a:avLst>
          </a:prstGeom>
          <a:solidFill>
            <a:srgbClr val="F5A623"/>
          </a:solidFill>
          <a:ln w="12700">
            <a:solidFill>
              <a:srgbClr val="F5A623"/>
            </a:solidFill>
            <a:prstDash val="solid"/>
          </a:ln>
        </p:spPr>
      </p:sp>
      <p:sp>
        <p:nvSpPr>
          <p:cNvPr id="7" name="Text 5"/>
          <p:cNvSpPr/>
          <p:nvPr/>
        </p:nvSpPr>
        <p:spPr>
          <a:xfrm>
            <a:off x="1454272" y="3953590"/>
            <a:ext cx="1280160" cy="384048"/>
          </a:xfrm>
          <a:prstGeom prst="rect">
            <a:avLst/>
          </a:prstGeom>
          <a:noFill/>
          <a:ln/>
        </p:spPr>
        <p:txBody>
          <a:bodyPr wrap="square" lIns="0" tIns="0" rIns="0" bIns="0" rtlCol="0" anchor="ctr"/>
          <a:lstStyle/>
          <a:p>
            <a:pPr marL="0" indent="0" algn="ctr">
              <a:buNone/>
            </a:pPr>
            <a:r>
              <a:rPr lang="en-US" sz="1100" b="1" dirty="0">
                <a:solidFill>
                  <a:srgbClr val="1A1F3C"/>
                </a:solidFill>
                <a:latin typeface="Calibri" pitchFamily="34" charset="0"/>
                <a:ea typeface="Calibri" pitchFamily="34" charset="-122"/>
                <a:cs typeface="Calibri" pitchFamily="34" charset="-120"/>
              </a:rPr>
              <a:t>Laravel</a:t>
            </a:r>
            <a:endParaRPr lang="en-US" sz="1100" dirty="0"/>
          </a:p>
        </p:txBody>
      </p:sp>
      <p:sp>
        <p:nvSpPr>
          <p:cNvPr id="8" name="Shape 6"/>
          <p:cNvSpPr/>
          <p:nvPr/>
        </p:nvSpPr>
        <p:spPr>
          <a:xfrm>
            <a:off x="3008752" y="3953590"/>
            <a:ext cx="1280160" cy="384048"/>
          </a:xfrm>
          <a:prstGeom prst="roundRect">
            <a:avLst>
              <a:gd name="adj" fmla="val 19048"/>
            </a:avLst>
          </a:prstGeom>
          <a:solidFill>
            <a:srgbClr val="F5A623"/>
          </a:solidFill>
          <a:ln w="12700">
            <a:solidFill>
              <a:srgbClr val="F5A623"/>
            </a:solidFill>
            <a:prstDash val="solid"/>
          </a:ln>
        </p:spPr>
      </p:sp>
      <p:sp>
        <p:nvSpPr>
          <p:cNvPr id="9" name="Text 7"/>
          <p:cNvSpPr/>
          <p:nvPr/>
        </p:nvSpPr>
        <p:spPr>
          <a:xfrm>
            <a:off x="3008752" y="3953590"/>
            <a:ext cx="1280160" cy="384048"/>
          </a:xfrm>
          <a:prstGeom prst="rect">
            <a:avLst/>
          </a:prstGeom>
          <a:noFill/>
          <a:ln/>
        </p:spPr>
        <p:txBody>
          <a:bodyPr wrap="square" lIns="0" tIns="0" rIns="0" bIns="0" rtlCol="0" anchor="ctr"/>
          <a:lstStyle/>
          <a:p>
            <a:pPr marL="0" indent="0" algn="ctr">
              <a:buNone/>
            </a:pPr>
            <a:r>
              <a:rPr lang="en-US" sz="1100" b="1" dirty="0">
                <a:solidFill>
                  <a:srgbClr val="1A1F3C"/>
                </a:solidFill>
                <a:latin typeface="Calibri" pitchFamily="34" charset="0"/>
                <a:ea typeface="Calibri" pitchFamily="34" charset="-122"/>
                <a:cs typeface="Calibri" pitchFamily="34" charset="-120"/>
              </a:rPr>
              <a:t>MVC + Services</a:t>
            </a:r>
            <a:endParaRPr lang="en-US" sz="1100" dirty="0"/>
          </a:p>
        </p:txBody>
      </p:sp>
      <p:sp>
        <p:nvSpPr>
          <p:cNvPr id="10" name="Shape 8"/>
          <p:cNvSpPr/>
          <p:nvPr/>
        </p:nvSpPr>
        <p:spPr>
          <a:xfrm>
            <a:off x="4563232" y="3953590"/>
            <a:ext cx="1280160" cy="384048"/>
          </a:xfrm>
          <a:prstGeom prst="roundRect">
            <a:avLst>
              <a:gd name="adj" fmla="val 19048"/>
            </a:avLst>
          </a:prstGeom>
          <a:solidFill>
            <a:srgbClr val="F5A623"/>
          </a:solidFill>
          <a:ln w="12700">
            <a:solidFill>
              <a:srgbClr val="F5A623"/>
            </a:solidFill>
            <a:prstDash val="solid"/>
          </a:ln>
        </p:spPr>
      </p:sp>
      <p:sp>
        <p:nvSpPr>
          <p:cNvPr id="11" name="Text 9"/>
          <p:cNvSpPr/>
          <p:nvPr/>
        </p:nvSpPr>
        <p:spPr>
          <a:xfrm>
            <a:off x="4563232" y="3953590"/>
            <a:ext cx="1280160" cy="384048"/>
          </a:xfrm>
          <a:prstGeom prst="rect">
            <a:avLst/>
          </a:prstGeom>
          <a:noFill/>
          <a:ln/>
        </p:spPr>
        <p:txBody>
          <a:bodyPr wrap="square" lIns="0" tIns="0" rIns="0" bIns="0" rtlCol="0" anchor="ctr"/>
          <a:lstStyle/>
          <a:p>
            <a:pPr marL="0" indent="0" algn="ctr">
              <a:buNone/>
            </a:pPr>
            <a:r>
              <a:rPr lang="en-US" sz="1100" b="1" dirty="0">
                <a:solidFill>
                  <a:srgbClr val="1A1F3C"/>
                </a:solidFill>
                <a:latin typeface="Calibri" pitchFamily="34" charset="0"/>
                <a:ea typeface="Calibri" pitchFamily="34" charset="-122"/>
                <a:cs typeface="Calibri" pitchFamily="34" charset="-120"/>
              </a:rPr>
              <a:t>Eloquent ORM</a:t>
            </a:r>
            <a:endParaRPr lang="en-US" sz="1100" dirty="0"/>
          </a:p>
        </p:txBody>
      </p:sp>
      <p:sp>
        <p:nvSpPr>
          <p:cNvPr id="12" name="Shape 10"/>
          <p:cNvSpPr/>
          <p:nvPr/>
        </p:nvSpPr>
        <p:spPr>
          <a:xfrm>
            <a:off x="6117712" y="3953590"/>
            <a:ext cx="1280160" cy="384048"/>
          </a:xfrm>
          <a:prstGeom prst="roundRect">
            <a:avLst>
              <a:gd name="adj" fmla="val 19048"/>
            </a:avLst>
          </a:prstGeom>
          <a:solidFill>
            <a:srgbClr val="F5A623"/>
          </a:solidFill>
          <a:ln w="12700">
            <a:solidFill>
              <a:srgbClr val="F5A623"/>
            </a:solidFill>
            <a:prstDash val="solid"/>
          </a:ln>
        </p:spPr>
      </p:sp>
      <p:sp>
        <p:nvSpPr>
          <p:cNvPr id="13" name="Text 11"/>
          <p:cNvSpPr/>
          <p:nvPr/>
        </p:nvSpPr>
        <p:spPr>
          <a:xfrm>
            <a:off x="6117712" y="3953590"/>
            <a:ext cx="1280160" cy="384048"/>
          </a:xfrm>
          <a:prstGeom prst="rect">
            <a:avLst/>
          </a:prstGeom>
          <a:noFill/>
          <a:ln/>
        </p:spPr>
        <p:txBody>
          <a:bodyPr wrap="square" lIns="0" tIns="0" rIns="0" bIns="0" rtlCol="0" anchor="ctr"/>
          <a:lstStyle/>
          <a:p>
            <a:pPr marL="0" indent="0" algn="ctr">
              <a:buNone/>
            </a:pPr>
            <a:r>
              <a:rPr lang="en-US" sz="1100" b="1" dirty="0">
                <a:solidFill>
                  <a:srgbClr val="1A1F3C"/>
                </a:solidFill>
                <a:latin typeface="Calibri" pitchFamily="34" charset="0"/>
                <a:ea typeface="Calibri" pitchFamily="34" charset="-122"/>
                <a:cs typeface="Calibri" pitchFamily="34" charset="-120"/>
              </a:rPr>
              <a:t>Blade</a:t>
            </a:r>
            <a:endParaRPr lang="en-US" sz="1100" dirty="0"/>
          </a:p>
        </p:txBody>
      </p:sp>
      <p:sp>
        <p:nvSpPr>
          <p:cNvPr id="14" name="Shape 12"/>
          <p:cNvSpPr/>
          <p:nvPr/>
        </p:nvSpPr>
        <p:spPr>
          <a:xfrm>
            <a:off x="0" y="4480560"/>
            <a:ext cx="9144000" cy="662940"/>
          </a:xfrm>
          <a:prstGeom prst="rect">
            <a:avLst/>
          </a:prstGeom>
          <a:solidFill>
            <a:srgbClr val="1A1F3C"/>
          </a:solidFill>
          <a:ln w="12700">
            <a:solidFill>
              <a:srgbClr val="1A1F3C"/>
            </a:solidFill>
            <a:prstDash val="solid"/>
          </a:ln>
        </p:spPr>
      </p:sp>
      <p:sp>
        <p:nvSpPr>
          <p:cNvPr id="15" name="Text 13"/>
          <p:cNvSpPr/>
          <p:nvPr/>
        </p:nvSpPr>
        <p:spPr>
          <a:xfrm>
            <a:off x="457200" y="4526280"/>
            <a:ext cx="8229600" cy="548640"/>
          </a:xfrm>
          <a:prstGeom prst="rect">
            <a:avLst/>
          </a:prstGeom>
          <a:noFill/>
          <a:ln/>
        </p:spPr>
        <p:txBody>
          <a:bodyPr wrap="square" lIns="0" tIns="0" rIns="0" bIns="0" rtlCol="0" anchor="ctr"/>
          <a:lstStyle/>
          <a:p>
            <a:pPr marL="0" indent="0" algn="ctr">
              <a:buNone/>
            </a:pPr>
            <a:r>
              <a:rPr lang="en-US" sz="1200" dirty="0" err="1">
                <a:solidFill>
                  <a:srgbClr val="CADCFC"/>
                </a:solidFill>
                <a:latin typeface="Calibri" pitchFamily="34" charset="0"/>
                <a:ea typeface="Calibri" pitchFamily="34" charset="-122"/>
                <a:cs typeface="Calibri" pitchFamily="34" charset="-120"/>
              </a:rPr>
              <a:t>Abderrahmane</a:t>
            </a:r>
            <a:r>
              <a:rPr lang="en-US" sz="1200" dirty="0">
                <a:solidFill>
                  <a:srgbClr val="CADCFC"/>
                </a:solidFill>
                <a:latin typeface="Calibri" pitchFamily="34" charset="0"/>
                <a:ea typeface="Calibri" pitchFamily="34" charset="-122"/>
                <a:cs typeface="Calibri" pitchFamily="34" charset="-120"/>
              </a:rPr>
              <a:t> </a:t>
            </a:r>
            <a:r>
              <a:rPr lang="en-US" sz="1200" dirty="0" err="1">
                <a:solidFill>
                  <a:srgbClr val="CADCFC"/>
                </a:solidFill>
                <a:latin typeface="Calibri" pitchFamily="34" charset="0"/>
                <a:ea typeface="Calibri" pitchFamily="34" charset="-122"/>
                <a:cs typeface="Calibri" pitchFamily="34" charset="-120"/>
              </a:rPr>
              <a:t>Frittet</a:t>
            </a:r>
            <a:r>
              <a:rPr lang="en-US" sz="1200" dirty="0">
                <a:solidFill>
                  <a:srgbClr val="CADCFC"/>
                </a:solidFill>
                <a:latin typeface="Calibri" pitchFamily="34" charset="0"/>
                <a:ea typeface="Calibri" pitchFamily="34" charset="-122"/>
                <a:cs typeface="Calibri" pitchFamily="34" charset="-120"/>
              </a:rPr>
              <a:t>  |  </a:t>
            </a:r>
            <a:r>
              <a:rPr lang="en-US" sz="1200" dirty="0" err="1">
                <a:solidFill>
                  <a:srgbClr val="CADCFC"/>
                </a:solidFill>
                <a:latin typeface="Calibri" pitchFamily="34" charset="0"/>
                <a:ea typeface="Calibri" pitchFamily="34" charset="-122"/>
                <a:cs typeface="Calibri" pitchFamily="34" charset="-120"/>
              </a:rPr>
              <a:t>Fatine</a:t>
            </a:r>
            <a:r>
              <a:rPr lang="en-US" sz="1200" dirty="0">
                <a:solidFill>
                  <a:srgbClr val="CADCFC"/>
                </a:solidFill>
                <a:latin typeface="Calibri" pitchFamily="34" charset="0"/>
                <a:ea typeface="Calibri" pitchFamily="34" charset="-122"/>
                <a:cs typeface="Calibri" pitchFamily="34" charset="-120"/>
              </a:rPr>
              <a:t> </a:t>
            </a:r>
            <a:r>
              <a:rPr lang="en-US" sz="1200" dirty="0" err="1">
                <a:solidFill>
                  <a:srgbClr val="CADCFC"/>
                </a:solidFill>
                <a:latin typeface="Calibri" pitchFamily="34" charset="0"/>
                <a:ea typeface="Calibri" pitchFamily="34" charset="-122"/>
                <a:cs typeface="Calibri" pitchFamily="34" charset="-120"/>
              </a:rPr>
              <a:t>Krimech</a:t>
            </a:r>
            <a:r>
              <a:rPr lang="en-US" sz="1200" dirty="0">
                <a:solidFill>
                  <a:srgbClr val="CADCFC"/>
                </a:solidFill>
                <a:latin typeface="Calibri" pitchFamily="34" charset="0"/>
                <a:ea typeface="Calibri" pitchFamily="34" charset="-122"/>
                <a:cs typeface="Calibri" pitchFamily="34" charset="-120"/>
              </a:rPr>
              <a: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Sommaire</a:t>
            </a:r>
            <a:endParaRPr lang="en-US" sz="3000" dirty="0"/>
          </a:p>
        </p:txBody>
      </p:sp>
      <p:sp>
        <p:nvSpPr>
          <p:cNvPr id="4" name="Shape 2"/>
          <p:cNvSpPr/>
          <p:nvPr/>
        </p:nvSpPr>
        <p:spPr>
          <a:xfrm>
            <a:off x="320040" y="1097280"/>
            <a:ext cx="4023360" cy="1463040"/>
          </a:xfrm>
          <a:prstGeom prst="roundRect">
            <a:avLst>
              <a:gd name="adj" fmla="val 7500"/>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5" name="Shape 3"/>
          <p:cNvSpPr/>
          <p:nvPr/>
        </p:nvSpPr>
        <p:spPr>
          <a:xfrm>
            <a:off x="457200" y="1234440"/>
            <a:ext cx="594360" cy="594360"/>
          </a:xfrm>
          <a:prstGeom prst="roundRect">
            <a:avLst>
              <a:gd name="adj" fmla="val 12308"/>
            </a:avLst>
          </a:prstGeom>
          <a:solidFill>
            <a:srgbClr val="1E2761"/>
          </a:solidFill>
          <a:ln w="12700">
            <a:solidFill>
              <a:srgbClr val="1E2761"/>
            </a:solidFill>
            <a:prstDash val="solid"/>
          </a:ln>
        </p:spPr>
      </p:sp>
      <p:sp>
        <p:nvSpPr>
          <p:cNvPr id="6" name="Text 4"/>
          <p:cNvSpPr/>
          <p:nvPr/>
        </p:nvSpPr>
        <p:spPr>
          <a:xfrm>
            <a:off x="457200" y="1234440"/>
            <a:ext cx="594360" cy="594360"/>
          </a:xfrm>
          <a:prstGeom prst="rect">
            <a:avLst/>
          </a:prstGeom>
          <a:noFill/>
          <a:ln/>
        </p:spPr>
        <p:txBody>
          <a:bodyPr wrap="square" lIns="0" tIns="0" rIns="0" bIns="0" rtlCol="0" anchor="ctr"/>
          <a:lstStyle/>
          <a:p>
            <a:pPr marL="0" indent="0" algn="ctr">
              <a:buNone/>
            </a:pPr>
            <a:r>
              <a:rPr lang="en-US" sz="1800" b="1" dirty="0">
                <a:solidFill>
                  <a:srgbClr val="F5A623"/>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1188720" y="1234440"/>
            <a:ext cx="3017520" cy="411480"/>
          </a:xfrm>
          <a:prstGeom prst="rect">
            <a:avLst/>
          </a:prstGeom>
          <a:noFill/>
          <a:ln/>
        </p:spPr>
        <p:txBody>
          <a:bodyPr wrap="square" lIns="0" tIns="0" rIns="0" bIns="0" rtlCol="0" anchor="ctr"/>
          <a:lstStyle/>
          <a:p>
            <a:pPr marL="0" indent="0" algn="l">
              <a:buNone/>
            </a:pPr>
            <a:r>
              <a:rPr lang="en-US" sz="1400" b="1" dirty="0">
                <a:solidFill>
                  <a:srgbClr val="1A1F3C"/>
                </a:solidFill>
                <a:latin typeface="Cambria" pitchFamily="34" charset="0"/>
                <a:ea typeface="Cambria" pitchFamily="34" charset="-122"/>
                <a:cs typeface="Cambria" pitchFamily="34" charset="-120"/>
              </a:rPr>
              <a:t>Présentation du projet</a:t>
            </a:r>
            <a:endParaRPr lang="en-US" sz="1400" dirty="0"/>
          </a:p>
        </p:txBody>
      </p:sp>
      <p:sp>
        <p:nvSpPr>
          <p:cNvPr id="8" name="Text 6"/>
          <p:cNvSpPr/>
          <p:nvPr/>
        </p:nvSpPr>
        <p:spPr>
          <a:xfrm>
            <a:off x="1188720" y="1691640"/>
            <a:ext cx="3017520" cy="64008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Description, objectifs, besoins et risques</a:t>
            </a:r>
            <a:endParaRPr lang="en-US" sz="1100" dirty="0"/>
          </a:p>
        </p:txBody>
      </p:sp>
      <p:sp>
        <p:nvSpPr>
          <p:cNvPr id="9" name="Shape 7"/>
          <p:cNvSpPr/>
          <p:nvPr/>
        </p:nvSpPr>
        <p:spPr>
          <a:xfrm>
            <a:off x="4892040" y="1097280"/>
            <a:ext cx="4023360" cy="1463040"/>
          </a:xfrm>
          <a:prstGeom prst="roundRect">
            <a:avLst>
              <a:gd name="adj" fmla="val 7500"/>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0" name="Shape 8"/>
          <p:cNvSpPr/>
          <p:nvPr/>
        </p:nvSpPr>
        <p:spPr>
          <a:xfrm>
            <a:off x="5029200" y="1234440"/>
            <a:ext cx="594360" cy="594360"/>
          </a:xfrm>
          <a:prstGeom prst="roundRect">
            <a:avLst>
              <a:gd name="adj" fmla="val 12308"/>
            </a:avLst>
          </a:prstGeom>
          <a:solidFill>
            <a:srgbClr val="1E2761"/>
          </a:solidFill>
          <a:ln w="12700">
            <a:solidFill>
              <a:srgbClr val="1E2761"/>
            </a:solidFill>
            <a:prstDash val="solid"/>
          </a:ln>
        </p:spPr>
      </p:sp>
      <p:sp>
        <p:nvSpPr>
          <p:cNvPr id="11" name="Text 9"/>
          <p:cNvSpPr/>
          <p:nvPr/>
        </p:nvSpPr>
        <p:spPr>
          <a:xfrm>
            <a:off x="5029200" y="1234440"/>
            <a:ext cx="594360" cy="594360"/>
          </a:xfrm>
          <a:prstGeom prst="rect">
            <a:avLst/>
          </a:prstGeom>
          <a:noFill/>
          <a:ln/>
        </p:spPr>
        <p:txBody>
          <a:bodyPr wrap="square" lIns="0" tIns="0" rIns="0" bIns="0" rtlCol="0" anchor="ctr"/>
          <a:lstStyle/>
          <a:p>
            <a:pPr marL="0" indent="0" algn="ctr">
              <a:buNone/>
            </a:pPr>
            <a:r>
              <a:rPr lang="en-US" sz="1800" b="1" dirty="0">
                <a:solidFill>
                  <a:srgbClr val="F5A623"/>
                </a:solidFill>
                <a:latin typeface="Cambria" pitchFamily="34" charset="0"/>
                <a:ea typeface="Cambria" pitchFamily="34" charset="-122"/>
                <a:cs typeface="Cambria" pitchFamily="34" charset="-120"/>
              </a:rPr>
              <a:t>02</a:t>
            </a:r>
            <a:endParaRPr lang="en-US" sz="1800" dirty="0"/>
          </a:p>
        </p:txBody>
      </p:sp>
      <p:sp>
        <p:nvSpPr>
          <p:cNvPr id="12" name="Text 10"/>
          <p:cNvSpPr/>
          <p:nvPr/>
        </p:nvSpPr>
        <p:spPr>
          <a:xfrm>
            <a:off x="5760720" y="1234440"/>
            <a:ext cx="3017520" cy="411480"/>
          </a:xfrm>
          <a:prstGeom prst="rect">
            <a:avLst/>
          </a:prstGeom>
          <a:noFill/>
          <a:ln/>
        </p:spPr>
        <p:txBody>
          <a:bodyPr wrap="square" lIns="0" tIns="0" rIns="0" bIns="0" rtlCol="0" anchor="ctr"/>
          <a:lstStyle/>
          <a:p>
            <a:pPr marL="0" indent="0" algn="l">
              <a:buNone/>
            </a:pPr>
            <a:r>
              <a:rPr lang="en-US" sz="1400" b="1" dirty="0">
                <a:solidFill>
                  <a:srgbClr val="1A1F3C"/>
                </a:solidFill>
                <a:latin typeface="Cambria" pitchFamily="34" charset="0"/>
                <a:ea typeface="Cambria" pitchFamily="34" charset="-122"/>
                <a:cs typeface="Cambria" pitchFamily="34" charset="-120"/>
              </a:rPr>
              <a:t>Analyse &amp; Conception UML</a:t>
            </a:r>
            <a:endParaRPr lang="en-US" sz="1400" dirty="0"/>
          </a:p>
        </p:txBody>
      </p:sp>
      <p:sp>
        <p:nvSpPr>
          <p:cNvPr id="13" name="Text 11"/>
          <p:cNvSpPr/>
          <p:nvPr/>
        </p:nvSpPr>
        <p:spPr>
          <a:xfrm>
            <a:off x="5760720" y="1691640"/>
            <a:ext cx="3017520" cy="64008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Cas d'utilisation, classes, séquence</a:t>
            </a:r>
            <a:endParaRPr lang="en-US" sz="1100" dirty="0"/>
          </a:p>
        </p:txBody>
      </p:sp>
      <p:sp>
        <p:nvSpPr>
          <p:cNvPr id="14" name="Shape 12"/>
          <p:cNvSpPr/>
          <p:nvPr/>
        </p:nvSpPr>
        <p:spPr>
          <a:xfrm>
            <a:off x="320040" y="2834640"/>
            <a:ext cx="4023360" cy="1463040"/>
          </a:xfrm>
          <a:prstGeom prst="roundRect">
            <a:avLst>
              <a:gd name="adj" fmla="val 7500"/>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5" name="Shape 13"/>
          <p:cNvSpPr/>
          <p:nvPr/>
        </p:nvSpPr>
        <p:spPr>
          <a:xfrm>
            <a:off x="457200" y="2971800"/>
            <a:ext cx="594360" cy="594360"/>
          </a:xfrm>
          <a:prstGeom prst="roundRect">
            <a:avLst>
              <a:gd name="adj" fmla="val 12308"/>
            </a:avLst>
          </a:prstGeom>
          <a:solidFill>
            <a:srgbClr val="1E2761"/>
          </a:solidFill>
          <a:ln w="12700">
            <a:solidFill>
              <a:srgbClr val="1E2761"/>
            </a:solidFill>
            <a:prstDash val="solid"/>
          </a:ln>
        </p:spPr>
      </p:sp>
      <p:sp>
        <p:nvSpPr>
          <p:cNvPr id="16" name="Text 14"/>
          <p:cNvSpPr/>
          <p:nvPr/>
        </p:nvSpPr>
        <p:spPr>
          <a:xfrm>
            <a:off x="457200" y="2971800"/>
            <a:ext cx="594360" cy="594360"/>
          </a:xfrm>
          <a:prstGeom prst="rect">
            <a:avLst/>
          </a:prstGeom>
          <a:noFill/>
          <a:ln/>
        </p:spPr>
        <p:txBody>
          <a:bodyPr wrap="square" lIns="0" tIns="0" rIns="0" bIns="0" rtlCol="0" anchor="ctr"/>
          <a:lstStyle/>
          <a:p>
            <a:pPr marL="0" indent="0" algn="ctr">
              <a:buNone/>
            </a:pPr>
            <a:r>
              <a:rPr lang="en-US" sz="1800" b="1" dirty="0">
                <a:solidFill>
                  <a:srgbClr val="F5A623"/>
                </a:solidFill>
                <a:latin typeface="Cambria" pitchFamily="34" charset="0"/>
                <a:ea typeface="Cambria" pitchFamily="34" charset="-122"/>
                <a:cs typeface="Cambria" pitchFamily="34" charset="-120"/>
              </a:rPr>
              <a:t>03</a:t>
            </a:r>
            <a:endParaRPr lang="en-US" sz="1800" dirty="0"/>
          </a:p>
        </p:txBody>
      </p:sp>
      <p:sp>
        <p:nvSpPr>
          <p:cNvPr id="17" name="Text 15"/>
          <p:cNvSpPr/>
          <p:nvPr/>
        </p:nvSpPr>
        <p:spPr>
          <a:xfrm>
            <a:off x="1188720" y="2971800"/>
            <a:ext cx="3017520" cy="411480"/>
          </a:xfrm>
          <a:prstGeom prst="rect">
            <a:avLst/>
          </a:prstGeom>
          <a:noFill/>
          <a:ln/>
        </p:spPr>
        <p:txBody>
          <a:bodyPr wrap="square" lIns="0" tIns="0" rIns="0" bIns="0" rtlCol="0" anchor="ctr"/>
          <a:lstStyle/>
          <a:p>
            <a:pPr marL="0" indent="0" algn="l">
              <a:buNone/>
            </a:pPr>
            <a:r>
              <a:rPr lang="en-US" sz="1400" b="1" dirty="0">
                <a:solidFill>
                  <a:srgbClr val="1A1F3C"/>
                </a:solidFill>
                <a:latin typeface="Cambria" pitchFamily="34" charset="0"/>
                <a:ea typeface="Cambria" pitchFamily="34" charset="-122"/>
                <a:cs typeface="Cambria" pitchFamily="34" charset="-120"/>
              </a:rPr>
              <a:t>Réalisation &amp; Choix techniques</a:t>
            </a:r>
            <a:endParaRPr lang="en-US" sz="1400" dirty="0"/>
          </a:p>
        </p:txBody>
      </p:sp>
      <p:sp>
        <p:nvSpPr>
          <p:cNvPr id="18" name="Text 16"/>
          <p:cNvSpPr/>
          <p:nvPr/>
        </p:nvSpPr>
        <p:spPr>
          <a:xfrm>
            <a:off x="1188720" y="3429000"/>
            <a:ext cx="3017520" cy="64008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Planification, outils, scénario principal</a:t>
            </a:r>
            <a:endParaRPr lang="en-US" sz="1100" dirty="0"/>
          </a:p>
        </p:txBody>
      </p:sp>
      <p:sp>
        <p:nvSpPr>
          <p:cNvPr id="19" name="Shape 17"/>
          <p:cNvSpPr/>
          <p:nvPr/>
        </p:nvSpPr>
        <p:spPr>
          <a:xfrm>
            <a:off x="4892040" y="2834640"/>
            <a:ext cx="4023360" cy="1463040"/>
          </a:xfrm>
          <a:prstGeom prst="roundRect">
            <a:avLst>
              <a:gd name="adj" fmla="val 7500"/>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0" name="Shape 18"/>
          <p:cNvSpPr/>
          <p:nvPr/>
        </p:nvSpPr>
        <p:spPr>
          <a:xfrm>
            <a:off x="5029200" y="2971800"/>
            <a:ext cx="594360" cy="594360"/>
          </a:xfrm>
          <a:prstGeom prst="roundRect">
            <a:avLst>
              <a:gd name="adj" fmla="val 12308"/>
            </a:avLst>
          </a:prstGeom>
          <a:solidFill>
            <a:srgbClr val="1E2761"/>
          </a:solidFill>
          <a:ln w="12700">
            <a:solidFill>
              <a:srgbClr val="1E2761"/>
            </a:solidFill>
            <a:prstDash val="solid"/>
          </a:ln>
        </p:spPr>
      </p:sp>
      <p:sp>
        <p:nvSpPr>
          <p:cNvPr id="21" name="Text 19"/>
          <p:cNvSpPr/>
          <p:nvPr/>
        </p:nvSpPr>
        <p:spPr>
          <a:xfrm>
            <a:off x="5029200" y="2971800"/>
            <a:ext cx="594360" cy="594360"/>
          </a:xfrm>
          <a:prstGeom prst="rect">
            <a:avLst/>
          </a:prstGeom>
          <a:noFill/>
          <a:ln/>
        </p:spPr>
        <p:txBody>
          <a:bodyPr wrap="square" lIns="0" tIns="0" rIns="0" bIns="0" rtlCol="0" anchor="ctr"/>
          <a:lstStyle/>
          <a:p>
            <a:pPr marL="0" indent="0" algn="ctr">
              <a:buNone/>
            </a:pPr>
            <a:r>
              <a:rPr lang="en-US" sz="1800" b="1" dirty="0">
                <a:solidFill>
                  <a:srgbClr val="F5A623"/>
                </a:solidFill>
                <a:latin typeface="Cambria" pitchFamily="34" charset="0"/>
                <a:ea typeface="Cambria" pitchFamily="34" charset="-122"/>
                <a:cs typeface="Cambria" pitchFamily="34" charset="-120"/>
              </a:rPr>
              <a:t>04</a:t>
            </a:r>
            <a:endParaRPr lang="en-US" sz="1800" dirty="0"/>
          </a:p>
        </p:txBody>
      </p:sp>
      <p:sp>
        <p:nvSpPr>
          <p:cNvPr id="22" name="Text 20"/>
          <p:cNvSpPr/>
          <p:nvPr/>
        </p:nvSpPr>
        <p:spPr>
          <a:xfrm>
            <a:off x="5760720" y="2971800"/>
            <a:ext cx="3017520" cy="411480"/>
          </a:xfrm>
          <a:prstGeom prst="rect">
            <a:avLst/>
          </a:prstGeom>
          <a:noFill/>
          <a:ln/>
        </p:spPr>
        <p:txBody>
          <a:bodyPr wrap="square" lIns="0" tIns="0" rIns="0" bIns="0" rtlCol="0" anchor="ctr"/>
          <a:lstStyle/>
          <a:p>
            <a:pPr marL="0" indent="0" algn="l">
              <a:buNone/>
            </a:pPr>
            <a:r>
              <a:rPr lang="en-US" sz="1400" b="1" dirty="0">
                <a:solidFill>
                  <a:srgbClr val="1A1F3C"/>
                </a:solidFill>
                <a:latin typeface="Cambria" pitchFamily="34" charset="0"/>
                <a:ea typeface="Cambria" pitchFamily="34" charset="-122"/>
                <a:cs typeface="Cambria" pitchFamily="34" charset="-120"/>
              </a:rPr>
              <a:t>Conclusion &amp; Perspectives</a:t>
            </a:r>
            <a:endParaRPr lang="en-US" sz="1400" dirty="0"/>
          </a:p>
        </p:txBody>
      </p:sp>
      <p:sp>
        <p:nvSpPr>
          <p:cNvPr id="23" name="Text 21"/>
          <p:cNvSpPr/>
          <p:nvPr/>
        </p:nvSpPr>
        <p:spPr>
          <a:xfrm>
            <a:off x="5760720" y="3429000"/>
            <a:ext cx="3017520" cy="64008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Bilan et évolutions futures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01 — Présentation du projet</a:t>
            </a:r>
            <a:endParaRPr lang="en-US" sz="2600" dirty="0"/>
          </a:p>
        </p:txBody>
      </p:sp>
      <p:sp>
        <p:nvSpPr>
          <p:cNvPr id="4" name="Shape 2"/>
          <p:cNvSpPr/>
          <p:nvPr/>
        </p:nvSpPr>
        <p:spPr>
          <a:xfrm>
            <a:off x="274320" y="1051560"/>
            <a:ext cx="5212080" cy="3474720"/>
          </a:xfrm>
          <a:prstGeom prst="roundRect">
            <a:avLst>
              <a:gd name="adj" fmla="val 3158"/>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5" name="Text 3"/>
          <p:cNvSpPr/>
          <p:nvPr/>
        </p:nvSpPr>
        <p:spPr>
          <a:xfrm>
            <a:off x="502920" y="1234440"/>
            <a:ext cx="4754880" cy="41148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Description</a:t>
            </a:r>
            <a:endParaRPr lang="en-US" sz="1600" dirty="0"/>
          </a:p>
        </p:txBody>
      </p:sp>
      <p:sp>
        <p:nvSpPr>
          <p:cNvPr id="6" name="Text 4"/>
          <p:cNvSpPr/>
          <p:nvPr/>
        </p:nvSpPr>
        <p:spPr>
          <a:xfrm>
            <a:off x="502920" y="1737360"/>
            <a:ext cx="4754880" cy="2560320"/>
          </a:xfrm>
          <a:prstGeom prst="rect">
            <a:avLst/>
          </a:prstGeom>
          <a:noFill/>
          <a:ln/>
        </p:spPr>
        <p:txBody>
          <a:bodyPr wrap="square" lIns="0" tIns="0" rIns="0" bIns="0" rtlCol="0" anchor="t"/>
          <a:lstStyle/>
          <a:p>
            <a:pPr marL="0" indent="0" algn="l">
              <a:buNone/>
            </a:pPr>
            <a:r>
              <a:rPr lang="en-US" sz="1250" dirty="0">
                <a:solidFill>
                  <a:srgbClr val="1A1F3C"/>
                </a:solidFill>
                <a:latin typeface="Calibri" pitchFamily="34" charset="0"/>
                <a:ea typeface="Calibri" pitchFamily="34" charset="-122"/>
                <a:cs typeface="Calibri" pitchFamily="34" charset="-120"/>
              </a:rPr>
              <a:t>La plateforme PFF est une application web permettant de mettre en relation des clients avec des travailleurs indépendants. Un visiteur peut parcourir les prestataires, envoyer un message de contact et créer un compte. Le travailleur doit déclarer au moins un métier pour être visible dans la liste des prestataires.</a:t>
            </a:r>
            <a:endParaRPr lang="en-US" sz="1250" dirty="0"/>
          </a:p>
        </p:txBody>
      </p:sp>
      <p:sp>
        <p:nvSpPr>
          <p:cNvPr id="7" name="Shape 5"/>
          <p:cNvSpPr/>
          <p:nvPr/>
        </p:nvSpPr>
        <p:spPr>
          <a:xfrm>
            <a:off x="5669280" y="1051560"/>
            <a:ext cx="3200400" cy="3474720"/>
          </a:xfrm>
          <a:prstGeom prst="roundRect">
            <a:avLst>
              <a:gd name="adj" fmla="val 3429"/>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sp>
      <p:sp>
        <p:nvSpPr>
          <p:cNvPr id="8" name="Text 6"/>
          <p:cNvSpPr/>
          <p:nvPr/>
        </p:nvSpPr>
        <p:spPr>
          <a:xfrm>
            <a:off x="5852160" y="1234440"/>
            <a:ext cx="2834640" cy="411480"/>
          </a:xfrm>
          <a:prstGeom prst="rect">
            <a:avLst/>
          </a:prstGeom>
          <a:noFill/>
          <a:ln/>
        </p:spPr>
        <p:txBody>
          <a:bodyPr wrap="square" lIns="0" tIns="0" rIns="0" bIns="0" rtlCol="0" anchor="ctr"/>
          <a:lstStyle/>
          <a:p>
            <a:pPr marL="0" indent="0" algn="l">
              <a:buNone/>
            </a:pPr>
            <a:r>
              <a:rPr lang="en-US" sz="1600" b="1" dirty="0">
                <a:solidFill>
                  <a:srgbClr val="F5A623"/>
                </a:solidFill>
                <a:latin typeface="Cambria" pitchFamily="34" charset="0"/>
                <a:ea typeface="Cambria" pitchFamily="34" charset="-122"/>
                <a:cs typeface="Cambria" pitchFamily="34" charset="-120"/>
              </a:rPr>
              <a:t>Objectifs</a:t>
            </a:r>
            <a:endParaRPr lang="en-US" sz="1600" dirty="0"/>
          </a:p>
        </p:txBody>
      </p:sp>
      <p:pic>
        <p:nvPicPr>
          <p:cNvPr id="9" name="Image 0" descr="preencoded.png"/>
          <p:cNvPicPr>
            <a:picLocks noChangeAspect="1"/>
          </p:cNvPicPr>
          <p:nvPr/>
        </p:nvPicPr>
        <p:blipFill>
          <a:blip r:embed="rId3"/>
          <a:stretch>
            <a:fillRect/>
          </a:stretch>
        </p:blipFill>
        <p:spPr>
          <a:xfrm>
            <a:off x="5852160" y="1783080"/>
            <a:ext cx="201168" cy="201168"/>
          </a:xfrm>
          <a:prstGeom prst="rect">
            <a:avLst/>
          </a:prstGeom>
        </p:spPr>
      </p:pic>
      <p:sp>
        <p:nvSpPr>
          <p:cNvPr id="10" name="Text 7"/>
          <p:cNvSpPr/>
          <p:nvPr/>
        </p:nvSpPr>
        <p:spPr>
          <a:xfrm>
            <a:off x="6126480" y="1755648"/>
            <a:ext cx="26060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Consulter les prestataires disponibles</a:t>
            </a:r>
            <a:endParaRPr lang="en-US" sz="1100" dirty="0"/>
          </a:p>
        </p:txBody>
      </p:sp>
      <p:pic>
        <p:nvPicPr>
          <p:cNvPr id="11" name="Image 1" descr="preencoded.png"/>
          <p:cNvPicPr>
            <a:picLocks noChangeAspect="1"/>
          </p:cNvPicPr>
          <p:nvPr/>
        </p:nvPicPr>
        <p:blipFill>
          <a:blip r:embed="rId3"/>
          <a:stretch>
            <a:fillRect/>
          </a:stretch>
        </p:blipFill>
        <p:spPr>
          <a:xfrm>
            <a:off x="5852160" y="2258568"/>
            <a:ext cx="201168" cy="201168"/>
          </a:xfrm>
          <a:prstGeom prst="rect">
            <a:avLst/>
          </a:prstGeom>
        </p:spPr>
      </p:pic>
      <p:sp>
        <p:nvSpPr>
          <p:cNvPr id="12" name="Text 8"/>
          <p:cNvSpPr/>
          <p:nvPr/>
        </p:nvSpPr>
        <p:spPr>
          <a:xfrm>
            <a:off x="6126480" y="2231136"/>
            <a:ext cx="26060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Créer un profil travailleur</a:t>
            </a:r>
            <a:endParaRPr lang="en-US" sz="1100" dirty="0"/>
          </a:p>
        </p:txBody>
      </p:sp>
      <p:pic>
        <p:nvPicPr>
          <p:cNvPr id="13" name="Image 2" descr="preencoded.png"/>
          <p:cNvPicPr>
            <a:picLocks noChangeAspect="1"/>
          </p:cNvPicPr>
          <p:nvPr/>
        </p:nvPicPr>
        <p:blipFill>
          <a:blip r:embed="rId3"/>
          <a:stretch>
            <a:fillRect/>
          </a:stretch>
        </p:blipFill>
        <p:spPr>
          <a:xfrm>
            <a:off x="5852160" y="2734056"/>
            <a:ext cx="201168" cy="201168"/>
          </a:xfrm>
          <a:prstGeom prst="rect">
            <a:avLst/>
          </a:prstGeom>
        </p:spPr>
      </p:pic>
      <p:sp>
        <p:nvSpPr>
          <p:cNvPr id="14" name="Text 9"/>
          <p:cNvSpPr/>
          <p:nvPr/>
        </p:nvSpPr>
        <p:spPr>
          <a:xfrm>
            <a:off x="6126480" y="2706624"/>
            <a:ext cx="26060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Gérer services et publications</a:t>
            </a:r>
            <a:endParaRPr lang="en-US" sz="1100" dirty="0"/>
          </a:p>
        </p:txBody>
      </p:sp>
      <p:pic>
        <p:nvPicPr>
          <p:cNvPr id="15" name="Image 3" descr="preencoded.png"/>
          <p:cNvPicPr>
            <a:picLocks noChangeAspect="1"/>
          </p:cNvPicPr>
          <p:nvPr/>
        </p:nvPicPr>
        <p:blipFill>
          <a:blip r:embed="rId3"/>
          <a:stretch>
            <a:fillRect/>
          </a:stretch>
        </p:blipFill>
        <p:spPr>
          <a:xfrm>
            <a:off x="5852160" y="3209544"/>
            <a:ext cx="201168" cy="201168"/>
          </a:xfrm>
          <a:prstGeom prst="rect">
            <a:avLst/>
          </a:prstGeom>
        </p:spPr>
      </p:pic>
      <p:sp>
        <p:nvSpPr>
          <p:cNvPr id="16" name="Text 10"/>
          <p:cNvSpPr/>
          <p:nvPr/>
        </p:nvSpPr>
        <p:spPr>
          <a:xfrm>
            <a:off x="6126480" y="3182112"/>
            <a:ext cx="26060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Authentification sécurisée</a:t>
            </a:r>
            <a:endParaRPr lang="en-US" sz="1100" dirty="0"/>
          </a:p>
        </p:txBody>
      </p:sp>
      <p:pic>
        <p:nvPicPr>
          <p:cNvPr id="17" name="Image 4" descr="preencoded.png"/>
          <p:cNvPicPr>
            <a:picLocks noChangeAspect="1"/>
          </p:cNvPicPr>
          <p:nvPr/>
        </p:nvPicPr>
        <p:blipFill>
          <a:blip r:embed="rId3"/>
          <a:stretch>
            <a:fillRect/>
          </a:stretch>
        </p:blipFill>
        <p:spPr>
          <a:xfrm>
            <a:off x="5852160" y="3685032"/>
            <a:ext cx="201168" cy="201168"/>
          </a:xfrm>
          <a:prstGeom prst="rect">
            <a:avLst/>
          </a:prstGeom>
        </p:spPr>
      </p:pic>
      <p:sp>
        <p:nvSpPr>
          <p:cNvPr id="18" name="Text 11"/>
          <p:cNvSpPr/>
          <p:nvPr/>
        </p:nvSpPr>
        <p:spPr>
          <a:xfrm>
            <a:off x="6126480" y="3657600"/>
            <a:ext cx="26060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Base évolutive (avis, devis…)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01 — Besoins &amp; Risques</a:t>
            </a:r>
            <a:endParaRPr lang="en-US" sz="2600" dirty="0"/>
          </a:p>
        </p:txBody>
      </p:sp>
      <p:sp>
        <p:nvSpPr>
          <p:cNvPr id="4" name="Shape 2"/>
          <p:cNvSpPr/>
          <p:nvPr/>
        </p:nvSpPr>
        <p:spPr>
          <a:xfrm>
            <a:off x="274320" y="1051560"/>
            <a:ext cx="1965960" cy="1920240"/>
          </a:xfrm>
          <a:prstGeom prst="roundRect">
            <a:avLst>
              <a:gd name="adj" fmla="val 4762"/>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5" name="Shape 3"/>
          <p:cNvSpPr/>
          <p:nvPr/>
        </p:nvSpPr>
        <p:spPr>
          <a:xfrm>
            <a:off x="822960" y="1188720"/>
            <a:ext cx="658368" cy="658368"/>
          </a:xfrm>
          <a:prstGeom prst="roundRect">
            <a:avLst>
              <a:gd name="adj" fmla="val 13889"/>
            </a:avLst>
          </a:prstGeom>
          <a:solidFill>
            <a:srgbClr val="1E2761"/>
          </a:solidFill>
          <a:ln w="12700">
            <a:solidFill>
              <a:srgbClr val="1E2761"/>
            </a:solidFill>
            <a:prstDash val="solid"/>
          </a:ln>
        </p:spPr>
      </p:sp>
      <p:pic>
        <p:nvPicPr>
          <p:cNvPr id="6" name="Image 0" descr="preencoded.png"/>
          <p:cNvPicPr>
            <a:picLocks noChangeAspect="1"/>
          </p:cNvPicPr>
          <p:nvPr/>
        </p:nvPicPr>
        <p:blipFill>
          <a:blip r:embed="rId3"/>
          <a:stretch>
            <a:fillRect/>
          </a:stretch>
        </p:blipFill>
        <p:spPr>
          <a:xfrm>
            <a:off x="868680" y="1234440"/>
            <a:ext cx="384048" cy="384048"/>
          </a:xfrm>
          <a:prstGeom prst="rect">
            <a:avLst/>
          </a:prstGeom>
        </p:spPr>
      </p:pic>
      <p:sp>
        <p:nvSpPr>
          <p:cNvPr id="7" name="Text 4"/>
          <p:cNvSpPr/>
          <p:nvPr/>
        </p:nvSpPr>
        <p:spPr>
          <a:xfrm>
            <a:off x="365760" y="1965960"/>
            <a:ext cx="1783080" cy="32004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Visiteur</a:t>
            </a:r>
            <a:endParaRPr lang="en-US" sz="1300" dirty="0"/>
          </a:p>
        </p:txBody>
      </p:sp>
      <p:sp>
        <p:nvSpPr>
          <p:cNvPr id="8" name="Text 5"/>
          <p:cNvSpPr/>
          <p:nvPr/>
        </p:nvSpPr>
        <p:spPr>
          <a:xfrm>
            <a:off x="365760" y="2304288"/>
            <a:ext cx="1783080"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Informations claires sur la plateforme et les services proposés</a:t>
            </a:r>
            <a:endParaRPr lang="en-US" sz="1000" dirty="0"/>
          </a:p>
        </p:txBody>
      </p:sp>
      <p:sp>
        <p:nvSpPr>
          <p:cNvPr id="9" name="Shape 6"/>
          <p:cNvSpPr/>
          <p:nvPr/>
        </p:nvSpPr>
        <p:spPr>
          <a:xfrm>
            <a:off x="2450592" y="1051560"/>
            <a:ext cx="1965960" cy="1920240"/>
          </a:xfrm>
          <a:prstGeom prst="roundRect">
            <a:avLst>
              <a:gd name="adj" fmla="val 4762"/>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0" name="Shape 7"/>
          <p:cNvSpPr/>
          <p:nvPr/>
        </p:nvSpPr>
        <p:spPr>
          <a:xfrm>
            <a:off x="2999232" y="1188720"/>
            <a:ext cx="658368" cy="658368"/>
          </a:xfrm>
          <a:prstGeom prst="roundRect">
            <a:avLst>
              <a:gd name="adj" fmla="val 13889"/>
            </a:avLst>
          </a:prstGeom>
          <a:solidFill>
            <a:srgbClr val="1E2761"/>
          </a:solidFill>
          <a:ln w="12700">
            <a:solidFill>
              <a:srgbClr val="1E2761"/>
            </a:solidFill>
            <a:prstDash val="solid"/>
          </a:ln>
        </p:spPr>
      </p:sp>
      <p:pic>
        <p:nvPicPr>
          <p:cNvPr id="11" name="Image 1" descr="preencoded.png"/>
          <p:cNvPicPr>
            <a:picLocks noChangeAspect="1"/>
          </p:cNvPicPr>
          <p:nvPr/>
        </p:nvPicPr>
        <p:blipFill>
          <a:blip r:embed="rId4"/>
          <a:stretch>
            <a:fillRect/>
          </a:stretch>
        </p:blipFill>
        <p:spPr>
          <a:xfrm>
            <a:off x="3044952" y="1234440"/>
            <a:ext cx="384048" cy="384048"/>
          </a:xfrm>
          <a:prstGeom prst="rect">
            <a:avLst/>
          </a:prstGeom>
        </p:spPr>
      </p:pic>
      <p:sp>
        <p:nvSpPr>
          <p:cNvPr id="12" name="Text 8"/>
          <p:cNvSpPr/>
          <p:nvPr/>
        </p:nvSpPr>
        <p:spPr>
          <a:xfrm>
            <a:off x="2542032" y="1965960"/>
            <a:ext cx="1783080" cy="32004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Client</a:t>
            </a:r>
            <a:endParaRPr lang="en-US" sz="1300" dirty="0"/>
          </a:p>
        </p:txBody>
      </p:sp>
      <p:sp>
        <p:nvSpPr>
          <p:cNvPr id="13" name="Text 9"/>
          <p:cNvSpPr/>
          <p:nvPr/>
        </p:nvSpPr>
        <p:spPr>
          <a:xfrm>
            <a:off x="2542032" y="2304288"/>
            <a:ext cx="1783080"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Liste lisible de prestataires avec leurs métiers</a:t>
            </a:r>
            <a:endParaRPr lang="en-US" sz="1000" dirty="0"/>
          </a:p>
        </p:txBody>
      </p:sp>
      <p:sp>
        <p:nvSpPr>
          <p:cNvPr id="14" name="Shape 10"/>
          <p:cNvSpPr/>
          <p:nvPr/>
        </p:nvSpPr>
        <p:spPr>
          <a:xfrm>
            <a:off x="4626864" y="1051560"/>
            <a:ext cx="1965960" cy="1920240"/>
          </a:xfrm>
          <a:prstGeom prst="roundRect">
            <a:avLst>
              <a:gd name="adj" fmla="val 4762"/>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5" name="Shape 11"/>
          <p:cNvSpPr/>
          <p:nvPr/>
        </p:nvSpPr>
        <p:spPr>
          <a:xfrm>
            <a:off x="5175504" y="1188720"/>
            <a:ext cx="658368" cy="658368"/>
          </a:xfrm>
          <a:prstGeom prst="roundRect">
            <a:avLst>
              <a:gd name="adj" fmla="val 13889"/>
            </a:avLst>
          </a:prstGeom>
          <a:solidFill>
            <a:srgbClr val="1E2761"/>
          </a:solidFill>
          <a:ln w="12700">
            <a:solidFill>
              <a:srgbClr val="1E2761"/>
            </a:solidFill>
            <a:prstDash val="solid"/>
          </a:ln>
        </p:spPr>
      </p:sp>
      <p:pic>
        <p:nvPicPr>
          <p:cNvPr id="16" name="Image 2" descr="preencoded.png"/>
          <p:cNvPicPr>
            <a:picLocks noChangeAspect="1"/>
          </p:cNvPicPr>
          <p:nvPr/>
        </p:nvPicPr>
        <p:blipFill>
          <a:blip r:embed="rId5"/>
          <a:stretch>
            <a:fillRect/>
          </a:stretch>
        </p:blipFill>
        <p:spPr>
          <a:xfrm>
            <a:off x="5221224" y="1234440"/>
            <a:ext cx="384048" cy="384048"/>
          </a:xfrm>
          <a:prstGeom prst="rect">
            <a:avLst/>
          </a:prstGeom>
        </p:spPr>
      </p:pic>
      <p:sp>
        <p:nvSpPr>
          <p:cNvPr id="17" name="Text 12"/>
          <p:cNvSpPr/>
          <p:nvPr/>
        </p:nvSpPr>
        <p:spPr>
          <a:xfrm>
            <a:off x="4718304" y="1965960"/>
            <a:ext cx="1783080" cy="32004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Travailleur</a:t>
            </a:r>
            <a:endParaRPr lang="en-US" sz="1300" dirty="0"/>
          </a:p>
        </p:txBody>
      </p:sp>
      <p:sp>
        <p:nvSpPr>
          <p:cNvPr id="18" name="Text 13"/>
          <p:cNvSpPr/>
          <p:nvPr/>
        </p:nvSpPr>
        <p:spPr>
          <a:xfrm>
            <a:off x="4718304" y="2304288"/>
            <a:ext cx="1783080"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Inscription simple et gestion de ses publications</a:t>
            </a:r>
            <a:endParaRPr lang="en-US" sz="1000" dirty="0"/>
          </a:p>
        </p:txBody>
      </p:sp>
      <p:sp>
        <p:nvSpPr>
          <p:cNvPr id="19" name="Shape 14"/>
          <p:cNvSpPr/>
          <p:nvPr/>
        </p:nvSpPr>
        <p:spPr>
          <a:xfrm>
            <a:off x="6803136" y="1051560"/>
            <a:ext cx="1965960" cy="1920240"/>
          </a:xfrm>
          <a:prstGeom prst="roundRect">
            <a:avLst>
              <a:gd name="adj" fmla="val 4762"/>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0" name="Shape 15"/>
          <p:cNvSpPr/>
          <p:nvPr/>
        </p:nvSpPr>
        <p:spPr>
          <a:xfrm>
            <a:off x="7351776" y="1188720"/>
            <a:ext cx="658368" cy="658368"/>
          </a:xfrm>
          <a:prstGeom prst="roundRect">
            <a:avLst>
              <a:gd name="adj" fmla="val 13889"/>
            </a:avLst>
          </a:prstGeom>
          <a:solidFill>
            <a:srgbClr val="1E2761"/>
          </a:solidFill>
          <a:ln w="12700">
            <a:solidFill>
              <a:srgbClr val="1E2761"/>
            </a:solidFill>
            <a:prstDash val="solid"/>
          </a:ln>
        </p:spPr>
      </p:sp>
      <p:pic>
        <p:nvPicPr>
          <p:cNvPr id="21" name="Image 3" descr="preencoded.png"/>
          <p:cNvPicPr>
            <a:picLocks noChangeAspect="1"/>
          </p:cNvPicPr>
          <p:nvPr/>
        </p:nvPicPr>
        <p:blipFill>
          <a:blip r:embed="rId6"/>
          <a:stretch>
            <a:fillRect/>
          </a:stretch>
        </p:blipFill>
        <p:spPr>
          <a:xfrm>
            <a:off x="7397496" y="1234440"/>
            <a:ext cx="384048" cy="384048"/>
          </a:xfrm>
          <a:prstGeom prst="rect">
            <a:avLst/>
          </a:prstGeom>
        </p:spPr>
      </p:pic>
      <p:sp>
        <p:nvSpPr>
          <p:cNvPr id="22" name="Text 16"/>
          <p:cNvSpPr/>
          <p:nvPr/>
        </p:nvSpPr>
        <p:spPr>
          <a:xfrm>
            <a:off x="6894576" y="1965960"/>
            <a:ext cx="1783080" cy="320040"/>
          </a:xfrm>
          <a:prstGeom prst="rect">
            <a:avLst/>
          </a:prstGeom>
          <a:noFill/>
          <a:ln/>
        </p:spPr>
        <p:txBody>
          <a:bodyPr wrap="square" lIns="0" tIns="0" rIns="0" bIns="0"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Admin</a:t>
            </a:r>
            <a:endParaRPr lang="en-US" sz="1300" dirty="0"/>
          </a:p>
        </p:txBody>
      </p:sp>
      <p:sp>
        <p:nvSpPr>
          <p:cNvPr id="23" name="Text 17"/>
          <p:cNvSpPr/>
          <p:nvPr/>
        </p:nvSpPr>
        <p:spPr>
          <a:xfrm>
            <a:off x="6894576" y="2304288"/>
            <a:ext cx="1783080" cy="5943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Maintenance des services et modération des publications</a:t>
            </a:r>
            <a:endParaRPr lang="en-US" sz="1000" dirty="0"/>
          </a:p>
        </p:txBody>
      </p:sp>
      <p:sp>
        <p:nvSpPr>
          <p:cNvPr id="24" name="Text 18"/>
          <p:cNvSpPr/>
          <p:nvPr/>
        </p:nvSpPr>
        <p:spPr>
          <a:xfrm>
            <a:off x="274320" y="3154680"/>
            <a:ext cx="457200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Risques &amp; Mitigations</a:t>
            </a:r>
            <a:endParaRPr lang="en-US" sz="1500" dirty="0"/>
          </a:p>
        </p:txBody>
      </p:sp>
      <p:sp>
        <p:nvSpPr>
          <p:cNvPr id="25" name="Shape 19"/>
          <p:cNvSpPr/>
          <p:nvPr/>
        </p:nvSpPr>
        <p:spPr>
          <a:xfrm>
            <a:off x="274320" y="3566160"/>
            <a:ext cx="1965960" cy="1234440"/>
          </a:xfrm>
          <a:prstGeom prst="roundRect">
            <a:avLst>
              <a:gd name="adj" fmla="val 5926"/>
            </a:avLst>
          </a:prstGeom>
          <a:solidFill>
            <a:srgbClr val="E8EEF7"/>
          </a:solidFill>
          <a:ln w="12700">
            <a:solidFill>
              <a:srgbClr val="CADCFC"/>
            </a:solidFill>
            <a:prstDash val="solid"/>
          </a:ln>
        </p:spPr>
      </p:sp>
      <p:sp>
        <p:nvSpPr>
          <p:cNvPr id="26" name="Text 20"/>
          <p:cNvSpPr/>
          <p:nvPr/>
        </p:nvSpPr>
        <p:spPr>
          <a:xfrm>
            <a:off x="365760" y="3630168"/>
            <a:ext cx="1783080" cy="384048"/>
          </a:xfrm>
          <a:prstGeom prst="rect">
            <a:avLst/>
          </a:prstGeom>
          <a:noFill/>
          <a:ln/>
        </p:spPr>
        <p:txBody>
          <a:bodyPr wrap="square" lIns="0" tIns="0" rIns="0" bIns="0" rtlCol="0" anchor="ctr"/>
          <a:lstStyle/>
          <a:p>
            <a:pPr marL="0" indent="0" algn="ctr">
              <a:buNone/>
            </a:pPr>
            <a:r>
              <a:rPr lang="en-US" sz="1050" b="1" dirty="0">
                <a:solidFill>
                  <a:srgbClr val="1A1F3C"/>
                </a:solidFill>
                <a:latin typeface="Calibri" pitchFamily="34" charset="0"/>
                <a:ea typeface="Calibri" pitchFamily="34" charset="-122"/>
                <a:cs typeface="Calibri" pitchFamily="34" charset="-120"/>
              </a:rPr>
              <a:t>Cohérence des données</a:t>
            </a:r>
            <a:endParaRPr lang="en-US" sz="1050" dirty="0"/>
          </a:p>
        </p:txBody>
      </p:sp>
      <p:sp>
        <p:nvSpPr>
          <p:cNvPr id="27" name="Shape 21"/>
          <p:cNvSpPr/>
          <p:nvPr/>
        </p:nvSpPr>
        <p:spPr>
          <a:xfrm>
            <a:off x="594360" y="4069080"/>
            <a:ext cx="1325880" cy="274320"/>
          </a:xfrm>
          <a:prstGeom prst="roundRect">
            <a:avLst>
              <a:gd name="adj" fmla="val 20000"/>
            </a:avLst>
          </a:prstGeom>
          <a:solidFill>
            <a:srgbClr val="2E7D5B"/>
          </a:solidFill>
          <a:ln w="12700">
            <a:solidFill>
              <a:srgbClr val="2E7D5B"/>
            </a:solidFill>
            <a:prstDash val="solid"/>
          </a:ln>
        </p:spPr>
      </p:sp>
      <p:sp>
        <p:nvSpPr>
          <p:cNvPr id="28" name="Text 22"/>
          <p:cNvSpPr/>
          <p:nvPr/>
        </p:nvSpPr>
        <p:spPr>
          <a:xfrm>
            <a:off x="594360" y="4069080"/>
            <a:ext cx="13258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Transactions DB</a:t>
            </a:r>
            <a:endParaRPr lang="en-US" sz="950" dirty="0"/>
          </a:p>
        </p:txBody>
      </p:sp>
      <p:sp>
        <p:nvSpPr>
          <p:cNvPr id="29" name="Shape 23"/>
          <p:cNvSpPr/>
          <p:nvPr/>
        </p:nvSpPr>
        <p:spPr>
          <a:xfrm>
            <a:off x="2450592" y="3566160"/>
            <a:ext cx="1965960" cy="1234440"/>
          </a:xfrm>
          <a:prstGeom prst="roundRect">
            <a:avLst>
              <a:gd name="adj" fmla="val 5926"/>
            </a:avLst>
          </a:prstGeom>
          <a:solidFill>
            <a:srgbClr val="E8EEF7"/>
          </a:solidFill>
          <a:ln w="12700">
            <a:solidFill>
              <a:srgbClr val="CADCFC"/>
            </a:solidFill>
            <a:prstDash val="solid"/>
          </a:ln>
        </p:spPr>
      </p:sp>
      <p:sp>
        <p:nvSpPr>
          <p:cNvPr id="30" name="Text 24"/>
          <p:cNvSpPr/>
          <p:nvPr/>
        </p:nvSpPr>
        <p:spPr>
          <a:xfrm>
            <a:off x="2542032" y="3630168"/>
            <a:ext cx="1783080" cy="384048"/>
          </a:xfrm>
          <a:prstGeom prst="rect">
            <a:avLst/>
          </a:prstGeom>
          <a:noFill/>
          <a:ln/>
        </p:spPr>
        <p:txBody>
          <a:bodyPr wrap="square" lIns="0" tIns="0" rIns="0" bIns="0" rtlCol="0" anchor="ctr"/>
          <a:lstStyle/>
          <a:p>
            <a:pPr marL="0" indent="0" algn="ctr">
              <a:buNone/>
            </a:pPr>
            <a:r>
              <a:rPr lang="en-US" sz="1050" b="1" dirty="0">
                <a:solidFill>
                  <a:srgbClr val="1A1F3C"/>
                </a:solidFill>
                <a:latin typeface="Calibri" pitchFamily="34" charset="0"/>
                <a:ea typeface="Calibri" pitchFamily="34" charset="-122"/>
                <a:cs typeface="Calibri" pitchFamily="34" charset="-120"/>
              </a:rPr>
              <a:t>Sécurité authentification</a:t>
            </a:r>
            <a:endParaRPr lang="en-US" sz="1050" dirty="0"/>
          </a:p>
        </p:txBody>
      </p:sp>
      <p:sp>
        <p:nvSpPr>
          <p:cNvPr id="31" name="Shape 25"/>
          <p:cNvSpPr/>
          <p:nvPr/>
        </p:nvSpPr>
        <p:spPr>
          <a:xfrm>
            <a:off x="2770632" y="4069080"/>
            <a:ext cx="1325880" cy="274320"/>
          </a:xfrm>
          <a:prstGeom prst="roundRect">
            <a:avLst>
              <a:gd name="adj" fmla="val 20000"/>
            </a:avLst>
          </a:prstGeom>
          <a:solidFill>
            <a:srgbClr val="2E7D5B"/>
          </a:solidFill>
          <a:ln w="12700">
            <a:solidFill>
              <a:srgbClr val="2E7D5B"/>
            </a:solidFill>
            <a:prstDash val="solid"/>
          </a:ln>
        </p:spPr>
      </p:sp>
      <p:sp>
        <p:nvSpPr>
          <p:cNvPr id="32" name="Text 26"/>
          <p:cNvSpPr/>
          <p:nvPr/>
        </p:nvSpPr>
        <p:spPr>
          <a:xfrm>
            <a:off x="2770632" y="4069080"/>
            <a:ext cx="13258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Validation stricte</a:t>
            </a:r>
            <a:endParaRPr lang="en-US" sz="950" dirty="0"/>
          </a:p>
        </p:txBody>
      </p:sp>
      <p:sp>
        <p:nvSpPr>
          <p:cNvPr id="33" name="Shape 27"/>
          <p:cNvSpPr/>
          <p:nvPr/>
        </p:nvSpPr>
        <p:spPr>
          <a:xfrm>
            <a:off x="4626864" y="3566160"/>
            <a:ext cx="1965960" cy="1234440"/>
          </a:xfrm>
          <a:prstGeom prst="roundRect">
            <a:avLst>
              <a:gd name="adj" fmla="val 5926"/>
            </a:avLst>
          </a:prstGeom>
          <a:solidFill>
            <a:srgbClr val="E8EEF7"/>
          </a:solidFill>
          <a:ln w="12700">
            <a:solidFill>
              <a:srgbClr val="CADCFC"/>
            </a:solidFill>
            <a:prstDash val="solid"/>
          </a:ln>
        </p:spPr>
      </p:sp>
      <p:sp>
        <p:nvSpPr>
          <p:cNvPr id="34" name="Text 28"/>
          <p:cNvSpPr/>
          <p:nvPr/>
        </p:nvSpPr>
        <p:spPr>
          <a:xfrm>
            <a:off x="4718304" y="3630168"/>
            <a:ext cx="1783080" cy="384048"/>
          </a:xfrm>
          <a:prstGeom prst="rect">
            <a:avLst/>
          </a:prstGeom>
          <a:noFill/>
          <a:ln/>
        </p:spPr>
        <p:txBody>
          <a:bodyPr wrap="square" lIns="0" tIns="0" rIns="0" bIns="0" rtlCol="0" anchor="ctr"/>
          <a:lstStyle/>
          <a:p>
            <a:pPr marL="0" indent="0" algn="ctr">
              <a:buNone/>
            </a:pPr>
            <a:r>
              <a:rPr lang="en-US" sz="1050" b="1" dirty="0">
                <a:solidFill>
                  <a:srgbClr val="1A1F3C"/>
                </a:solidFill>
                <a:latin typeface="Calibri" pitchFamily="34" charset="0"/>
                <a:ea typeface="Calibri" pitchFamily="34" charset="-122"/>
                <a:cs typeface="Calibri" pitchFamily="34" charset="-120"/>
              </a:rPr>
              <a:t>Qualité du contenu</a:t>
            </a:r>
            <a:endParaRPr lang="en-US" sz="1050" dirty="0"/>
          </a:p>
        </p:txBody>
      </p:sp>
      <p:sp>
        <p:nvSpPr>
          <p:cNvPr id="35" name="Shape 29"/>
          <p:cNvSpPr/>
          <p:nvPr/>
        </p:nvSpPr>
        <p:spPr>
          <a:xfrm>
            <a:off x="4946904" y="4069080"/>
            <a:ext cx="1325880" cy="274320"/>
          </a:xfrm>
          <a:prstGeom prst="roundRect">
            <a:avLst>
              <a:gd name="adj" fmla="val 20000"/>
            </a:avLst>
          </a:prstGeom>
          <a:solidFill>
            <a:srgbClr val="2E7D5B"/>
          </a:solidFill>
          <a:ln w="12700">
            <a:solidFill>
              <a:srgbClr val="2E7D5B"/>
            </a:solidFill>
            <a:prstDash val="solid"/>
          </a:ln>
        </p:spPr>
      </p:sp>
      <p:sp>
        <p:nvSpPr>
          <p:cNvPr id="36" name="Text 30"/>
          <p:cNvSpPr/>
          <p:nvPr/>
        </p:nvSpPr>
        <p:spPr>
          <a:xfrm>
            <a:off x="4946904" y="4069080"/>
            <a:ext cx="13258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Validation formulaires</a:t>
            </a:r>
            <a:endParaRPr lang="en-US" sz="950" dirty="0"/>
          </a:p>
        </p:txBody>
      </p:sp>
      <p:sp>
        <p:nvSpPr>
          <p:cNvPr id="37" name="Shape 31"/>
          <p:cNvSpPr/>
          <p:nvPr/>
        </p:nvSpPr>
        <p:spPr>
          <a:xfrm>
            <a:off x="6803136" y="3566160"/>
            <a:ext cx="1965960" cy="1234440"/>
          </a:xfrm>
          <a:prstGeom prst="roundRect">
            <a:avLst>
              <a:gd name="adj" fmla="val 5926"/>
            </a:avLst>
          </a:prstGeom>
          <a:solidFill>
            <a:srgbClr val="E8EEF7"/>
          </a:solidFill>
          <a:ln w="12700">
            <a:solidFill>
              <a:srgbClr val="CADCFC"/>
            </a:solidFill>
            <a:prstDash val="solid"/>
          </a:ln>
        </p:spPr>
      </p:sp>
      <p:sp>
        <p:nvSpPr>
          <p:cNvPr id="38" name="Text 32"/>
          <p:cNvSpPr/>
          <p:nvPr/>
        </p:nvSpPr>
        <p:spPr>
          <a:xfrm>
            <a:off x="6894576" y="3630168"/>
            <a:ext cx="1783080" cy="384048"/>
          </a:xfrm>
          <a:prstGeom prst="rect">
            <a:avLst/>
          </a:prstGeom>
          <a:noFill/>
          <a:ln/>
        </p:spPr>
        <p:txBody>
          <a:bodyPr wrap="square" lIns="0" tIns="0" rIns="0" bIns="0" rtlCol="0" anchor="ctr"/>
          <a:lstStyle/>
          <a:p>
            <a:pPr marL="0" indent="0" algn="ctr">
              <a:buNone/>
            </a:pPr>
            <a:r>
              <a:rPr lang="en-US" sz="1050" b="1" dirty="0">
                <a:solidFill>
                  <a:srgbClr val="1A1F3C"/>
                </a:solidFill>
                <a:latin typeface="Calibri" pitchFamily="34" charset="0"/>
                <a:ea typeface="Calibri" pitchFamily="34" charset="-122"/>
                <a:cs typeface="Calibri" pitchFamily="34" charset="-120"/>
              </a:rPr>
              <a:t>Modération publications</a:t>
            </a:r>
            <a:endParaRPr lang="en-US" sz="1050" dirty="0"/>
          </a:p>
        </p:txBody>
      </p:sp>
      <p:sp>
        <p:nvSpPr>
          <p:cNvPr id="39" name="Shape 33"/>
          <p:cNvSpPr/>
          <p:nvPr/>
        </p:nvSpPr>
        <p:spPr>
          <a:xfrm>
            <a:off x="7123176" y="4069080"/>
            <a:ext cx="1325880" cy="274320"/>
          </a:xfrm>
          <a:prstGeom prst="roundRect">
            <a:avLst>
              <a:gd name="adj" fmla="val 20000"/>
            </a:avLst>
          </a:prstGeom>
          <a:solidFill>
            <a:srgbClr val="2E7D5B"/>
          </a:solidFill>
          <a:ln w="12700">
            <a:solidFill>
              <a:srgbClr val="2E7D5B"/>
            </a:solidFill>
            <a:prstDash val="solid"/>
          </a:ln>
        </p:spPr>
      </p:sp>
      <p:sp>
        <p:nvSpPr>
          <p:cNvPr id="40" name="Text 34"/>
          <p:cNvSpPr/>
          <p:nvPr/>
        </p:nvSpPr>
        <p:spPr>
          <a:xfrm>
            <a:off x="7123176" y="4069080"/>
            <a:ext cx="13258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Séparation des rôles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02 — Diagramme de cas d'utilisation</a:t>
            </a:r>
            <a:endParaRPr lang="en-US" sz="2600" dirty="0"/>
          </a:p>
        </p:txBody>
      </p:sp>
      <p:sp>
        <p:nvSpPr>
          <p:cNvPr id="4" name="Shape 2"/>
          <p:cNvSpPr/>
          <p:nvPr/>
        </p:nvSpPr>
        <p:spPr>
          <a:xfrm>
            <a:off x="1463040" y="960120"/>
            <a:ext cx="7406640" cy="3977640"/>
          </a:xfrm>
          <a:prstGeom prst="roundRect">
            <a:avLst>
              <a:gd name="adj" fmla="val 3448"/>
            </a:avLst>
          </a:prstGeom>
          <a:solidFill>
            <a:srgbClr val="EEF3FB"/>
          </a:solidFill>
          <a:ln w="12700">
            <a:solidFill>
              <a:srgbClr val="2952A3"/>
            </a:solidFill>
            <a:prstDash val="solid"/>
          </a:ln>
        </p:spPr>
      </p:sp>
      <p:sp>
        <p:nvSpPr>
          <p:cNvPr id="5" name="Text 3"/>
          <p:cNvSpPr/>
          <p:nvPr/>
        </p:nvSpPr>
        <p:spPr>
          <a:xfrm>
            <a:off x="5029200" y="1005840"/>
            <a:ext cx="2286000" cy="320040"/>
          </a:xfrm>
          <a:prstGeom prst="rect">
            <a:avLst/>
          </a:prstGeom>
          <a:noFill/>
          <a:ln/>
        </p:spPr>
        <p:txBody>
          <a:bodyPr wrap="square" lIns="0" tIns="0" rIns="0" bIns="0" rtlCol="0" anchor="ctr"/>
          <a:lstStyle/>
          <a:p>
            <a:pPr marL="0" indent="0" algn="ctr">
              <a:buNone/>
            </a:pPr>
            <a:r>
              <a:rPr lang="en-US" sz="1100" b="1" dirty="0">
                <a:solidFill>
                  <a:srgbClr val="2952A3"/>
                </a:solidFill>
                <a:latin typeface="Calibri" pitchFamily="34" charset="0"/>
                <a:ea typeface="Calibri" pitchFamily="34" charset="-122"/>
                <a:cs typeface="Calibri" pitchFamily="34" charset="-120"/>
              </a:rPr>
              <a:t>Système PFF</a:t>
            </a:r>
            <a:endParaRPr lang="en-US" sz="1100" dirty="0"/>
          </a:p>
        </p:txBody>
      </p:sp>
      <p:sp>
        <p:nvSpPr>
          <p:cNvPr id="6" name="Shape 4"/>
          <p:cNvSpPr/>
          <p:nvPr/>
        </p:nvSpPr>
        <p:spPr>
          <a:xfrm>
            <a:off x="1600200" y="1417320"/>
            <a:ext cx="2560320" cy="384048"/>
          </a:xfrm>
          <a:prstGeom prst="ellipse">
            <a:avLst/>
          </a:prstGeom>
          <a:solidFill>
            <a:srgbClr val="FFFFFF"/>
          </a:solidFill>
          <a:ln w="12700">
            <a:solidFill>
              <a:srgbClr val="2952A3"/>
            </a:solidFill>
            <a:prstDash val="solid"/>
          </a:ln>
        </p:spPr>
      </p:sp>
      <p:sp>
        <p:nvSpPr>
          <p:cNvPr id="7" name="Text 5"/>
          <p:cNvSpPr/>
          <p:nvPr/>
        </p:nvSpPr>
        <p:spPr>
          <a:xfrm>
            <a:off x="1600200" y="1417320"/>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Consulter pages publiques</a:t>
            </a:r>
            <a:endParaRPr lang="en-US" sz="950" dirty="0"/>
          </a:p>
        </p:txBody>
      </p:sp>
      <p:sp>
        <p:nvSpPr>
          <p:cNvPr id="8" name="Shape 6"/>
          <p:cNvSpPr/>
          <p:nvPr/>
        </p:nvSpPr>
        <p:spPr>
          <a:xfrm>
            <a:off x="1600200" y="1938528"/>
            <a:ext cx="2560320" cy="384048"/>
          </a:xfrm>
          <a:prstGeom prst="ellipse">
            <a:avLst/>
          </a:prstGeom>
          <a:solidFill>
            <a:srgbClr val="FFFFFF"/>
          </a:solidFill>
          <a:ln w="12700">
            <a:solidFill>
              <a:srgbClr val="2952A3"/>
            </a:solidFill>
            <a:prstDash val="solid"/>
          </a:ln>
        </p:spPr>
      </p:sp>
      <p:sp>
        <p:nvSpPr>
          <p:cNvPr id="9" name="Text 7"/>
          <p:cNvSpPr/>
          <p:nvPr/>
        </p:nvSpPr>
        <p:spPr>
          <a:xfrm>
            <a:off x="1600200" y="1938528"/>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Consulter les prestataires</a:t>
            </a:r>
            <a:endParaRPr lang="en-US" sz="950" dirty="0"/>
          </a:p>
        </p:txBody>
      </p:sp>
      <p:sp>
        <p:nvSpPr>
          <p:cNvPr id="10" name="Shape 8"/>
          <p:cNvSpPr/>
          <p:nvPr/>
        </p:nvSpPr>
        <p:spPr>
          <a:xfrm>
            <a:off x="1600200" y="2459736"/>
            <a:ext cx="2560320" cy="384048"/>
          </a:xfrm>
          <a:prstGeom prst="ellipse">
            <a:avLst/>
          </a:prstGeom>
          <a:solidFill>
            <a:srgbClr val="FFFFFF"/>
          </a:solidFill>
          <a:ln w="12700">
            <a:solidFill>
              <a:srgbClr val="2952A3"/>
            </a:solidFill>
            <a:prstDash val="solid"/>
          </a:ln>
        </p:spPr>
      </p:sp>
      <p:sp>
        <p:nvSpPr>
          <p:cNvPr id="11" name="Text 9"/>
          <p:cNvSpPr/>
          <p:nvPr/>
        </p:nvSpPr>
        <p:spPr>
          <a:xfrm>
            <a:off x="1600200" y="2459736"/>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Envoyer message de contact</a:t>
            </a:r>
            <a:endParaRPr lang="en-US" sz="950" dirty="0"/>
          </a:p>
        </p:txBody>
      </p:sp>
      <p:sp>
        <p:nvSpPr>
          <p:cNvPr id="12" name="Shape 10"/>
          <p:cNvSpPr/>
          <p:nvPr/>
        </p:nvSpPr>
        <p:spPr>
          <a:xfrm>
            <a:off x="1600200" y="2980944"/>
            <a:ext cx="2560320" cy="384048"/>
          </a:xfrm>
          <a:prstGeom prst="ellipse">
            <a:avLst/>
          </a:prstGeom>
          <a:solidFill>
            <a:srgbClr val="FFFFFF"/>
          </a:solidFill>
          <a:ln w="12700">
            <a:solidFill>
              <a:srgbClr val="2952A3"/>
            </a:solidFill>
            <a:prstDash val="solid"/>
          </a:ln>
        </p:spPr>
      </p:sp>
      <p:sp>
        <p:nvSpPr>
          <p:cNvPr id="13" name="Text 11"/>
          <p:cNvSpPr/>
          <p:nvPr/>
        </p:nvSpPr>
        <p:spPr>
          <a:xfrm>
            <a:off x="1600200" y="2980944"/>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Créer compte client</a:t>
            </a:r>
            <a:endParaRPr lang="en-US" sz="950" dirty="0"/>
          </a:p>
        </p:txBody>
      </p:sp>
      <p:sp>
        <p:nvSpPr>
          <p:cNvPr id="14" name="Shape 12"/>
          <p:cNvSpPr/>
          <p:nvPr/>
        </p:nvSpPr>
        <p:spPr>
          <a:xfrm>
            <a:off x="4663440" y="1417320"/>
            <a:ext cx="2560320" cy="384048"/>
          </a:xfrm>
          <a:prstGeom prst="ellipse">
            <a:avLst/>
          </a:prstGeom>
          <a:solidFill>
            <a:srgbClr val="FFFFFF"/>
          </a:solidFill>
          <a:ln w="12700">
            <a:solidFill>
              <a:srgbClr val="2952A3"/>
            </a:solidFill>
            <a:prstDash val="solid"/>
          </a:ln>
        </p:spPr>
      </p:sp>
      <p:sp>
        <p:nvSpPr>
          <p:cNvPr id="15" name="Text 13"/>
          <p:cNvSpPr/>
          <p:nvPr/>
        </p:nvSpPr>
        <p:spPr>
          <a:xfrm>
            <a:off x="4663440" y="1417320"/>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Créer compte travailleur</a:t>
            </a:r>
            <a:endParaRPr lang="en-US" sz="950" dirty="0"/>
          </a:p>
        </p:txBody>
      </p:sp>
      <p:sp>
        <p:nvSpPr>
          <p:cNvPr id="16" name="Shape 14"/>
          <p:cNvSpPr/>
          <p:nvPr/>
        </p:nvSpPr>
        <p:spPr>
          <a:xfrm>
            <a:off x="4663440" y="1938528"/>
            <a:ext cx="2560320" cy="384048"/>
          </a:xfrm>
          <a:prstGeom prst="ellipse">
            <a:avLst/>
          </a:prstGeom>
          <a:solidFill>
            <a:srgbClr val="FFFFFF"/>
          </a:solidFill>
          <a:ln w="12700">
            <a:solidFill>
              <a:srgbClr val="2952A3"/>
            </a:solidFill>
            <a:prstDash val="solid"/>
          </a:ln>
        </p:spPr>
      </p:sp>
      <p:sp>
        <p:nvSpPr>
          <p:cNvPr id="17" name="Text 15"/>
          <p:cNvSpPr/>
          <p:nvPr/>
        </p:nvSpPr>
        <p:spPr>
          <a:xfrm>
            <a:off x="4663440" y="1938528"/>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Se connecter / déconnecter</a:t>
            </a:r>
            <a:endParaRPr lang="en-US" sz="950" dirty="0"/>
          </a:p>
        </p:txBody>
      </p:sp>
      <p:sp>
        <p:nvSpPr>
          <p:cNvPr id="18" name="Shape 16"/>
          <p:cNvSpPr/>
          <p:nvPr/>
        </p:nvSpPr>
        <p:spPr>
          <a:xfrm>
            <a:off x="4663440" y="2459736"/>
            <a:ext cx="2560320" cy="384048"/>
          </a:xfrm>
          <a:prstGeom prst="ellipse">
            <a:avLst/>
          </a:prstGeom>
          <a:solidFill>
            <a:srgbClr val="FFFFFF"/>
          </a:solidFill>
          <a:ln w="12700">
            <a:solidFill>
              <a:srgbClr val="2952A3"/>
            </a:solidFill>
            <a:prstDash val="solid"/>
          </a:ln>
        </p:spPr>
      </p:sp>
      <p:sp>
        <p:nvSpPr>
          <p:cNvPr id="19" name="Text 17"/>
          <p:cNvSpPr/>
          <p:nvPr/>
        </p:nvSpPr>
        <p:spPr>
          <a:xfrm>
            <a:off x="4663440" y="2459736"/>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Gérer ses publications</a:t>
            </a:r>
            <a:endParaRPr lang="en-US" sz="950" dirty="0"/>
          </a:p>
        </p:txBody>
      </p:sp>
      <p:sp>
        <p:nvSpPr>
          <p:cNvPr id="20" name="Shape 18"/>
          <p:cNvSpPr/>
          <p:nvPr/>
        </p:nvSpPr>
        <p:spPr>
          <a:xfrm>
            <a:off x="4663440" y="2980944"/>
            <a:ext cx="2560320" cy="384048"/>
          </a:xfrm>
          <a:prstGeom prst="ellipse">
            <a:avLst/>
          </a:prstGeom>
          <a:solidFill>
            <a:srgbClr val="FFFFFF"/>
          </a:solidFill>
          <a:ln w="12700">
            <a:solidFill>
              <a:srgbClr val="2952A3"/>
            </a:solidFill>
            <a:prstDash val="solid"/>
          </a:ln>
        </p:spPr>
      </p:sp>
      <p:sp>
        <p:nvSpPr>
          <p:cNvPr id="21" name="Text 19"/>
          <p:cNvSpPr/>
          <p:nvPr/>
        </p:nvSpPr>
        <p:spPr>
          <a:xfrm>
            <a:off x="4663440" y="2980944"/>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Déclarer ses métiers</a:t>
            </a:r>
            <a:endParaRPr lang="en-US" sz="950" dirty="0"/>
          </a:p>
        </p:txBody>
      </p:sp>
      <p:sp>
        <p:nvSpPr>
          <p:cNvPr id="22" name="Shape 20"/>
          <p:cNvSpPr/>
          <p:nvPr/>
        </p:nvSpPr>
        <p:spPr>
          <a:xfrm>
            <a:off x="4663440" y="3502152"/>
            <a:ext cx="2560320" cy="384048"/>
          </a:xfrm>
          <a:prstGeom prst="ellipse">
            <a:avLst/>
          </a:prstGeom>
          <a:solidFill>
            <a:srgbClr val="FFFFFF"/>
          </a:solidFill>
          <a:ln w="12700">
            <a:solidFill>
              <a:srgbClr val="2952A3"/>
            </a:solidFill>
            <a:prstDash val="solid"/>
          </a:ln>
        </p:spPr>
      </p:sp>
      <p:sp>
        <p:nvSpPr>
          <p:cNvPr id="23" name="Text 21"/>
          <p:cNvSpPr/>
          <p:nvPr/>
        </p:nvSpPr>
        <p:spPr>
          <a:xfrm>
            <a:off x="4663440" y="3502152"/>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Gérer les services</a:t>
            </a:r>
            <a:endParaRPr lang="en-US" sz="950" dirty="0"/>
          </a:p>
        </p:txBody>
      </p:sp>
      <p:sp>
        <p:nvSpPr>
          <p:cNvPr id="24" name="Shape 22"/>
          <p:cNvSpPr/>
          <p:nvPr/>
        </p:nvSpPr>
        <p:spPr>
          <a:xfrm>
            <a:off x="1600200" y="3502152"/>
            <a:ext cx="2560320" cy="384048"/>
          </a:xfrm>
          <a:prstGeom prst="ellipse">
            <a:avLst/>
          </a:prstGeom>
          <a:solidFill>
            <a:srgbClr val="FFFFFF"/>
          </a:solidFill>
          <a:ln w="12700">
            <a:solidFill>
              <a:srgbClr val="2952A3"/>
            </a:solidFill>
            <a:prstDash val="solid"/>
          </a:ln>
        </p:spPr>
      </p:sp>
      <p:sp>
        <p:nvSpPr>
          <p:cNvPr id="25" name="Text 23"/>
          <p:cNvSpPr/>
          <p:nvPr/>
        </p:nvSpPr>
        <p:spPr>
          <a:xfrm>
            <a:off x="1600200" y="3502152"/>
            <a:ext cx="2560320" cy="384048"/>
          </a:xfrm>
          <a:prstGeom prst="rect">
            <a:avLst/>
          </a:prstGeom>
          <a:noFill/>
          <a:ln/>
        </p:spPr>
        <p:txBody>
          <a:bodyPr wrap="square" lIns="0" tIns="0" rIns="0" bIns="0" rtlCol="0" anchor="ctr"/>
          <a:lstStyle/>
          <a:p>
            <a:pPr marL="0" indent="0" algn="ctr">
              <a:buNone/>
            </a:pPr>
            <a:r>
              <a:rPr lang="en-US" sz="950" dirty="0">
                <a:solidFill>
                  <a:srgbClr val="1A1F3C"/>
                </a:solidFill>
                <a:latin typeface="Calibri" pitchFamily="34" charset="0"/>
                <a:ea typeface="Calibri" pitchFamily="34" charset="-122"/>
                <a:cs typeface="Calibri" pitchFamily="34" charset="-120"/>
              </a:rPr>
              <a:t>Supprimer une publication</a:t>
            </a:r>
            <a:endParaRPr lang="en-US" sz="950" dirty="0"/>
          </a:p>
        </p:txBody>
      </p:sp>
      <p:sp>
        <p:nvSpPr>
          <p:cNvPr id="26" name="Text 24"/>
          <p:cNvSpPr/>
          <p:nvPr/>
        </p:nvSpPr>
        <p:spPr>
          <a:xfrm>
            <a:off x="5120640" y="3236976"/>
            <a:ext cx="1188720" cy="201168"/>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&lt;&lt;include&gt;&gt;</a:t>
            </a:r>
            <a:endParaRPr lang="en-US" sz="850" dirty="0"/>
          </a:p>
        </p:txBody>
      </p:sp>
      <p:sp>
        <p:nvSpPr>
          <p:cNvPr id="27" name="Shape 25"/>
          <p:cNvSpPr/>
          <p:nvPr/>
        </p:nvSpPr>
        <p:spPr>
          <a:xfrm>
            <a:off x="137160" y="1417320"/>
            <a:ext cx="1188720" cy="347472"/>
          </a:xfrm>
          <a:prstGeom prst="roundRect">
            <a:avLst>
              <a:gd name="adj" fmla="val 21053"/>
            </a:avLst>
          </a:prstGeom>
          <a:solidFill>
            <a:srgbClr val="1E2761"/>
          </a:solidFill>
          <a:ln w="12700">
            <a:solidFill>
              <a:srgbClr val="1E2761"/>
            </a:solidFill>
            <a:prstDash val="solid"/>
          </a:ln>
        </p:spPr>
      </p:sp>
      <p:sp>
        <p:nvSpPr>
          <p:cNvPr id="28" name="Text 26"/>
          <p:cNvSpPr/>
          <p:nvPr/>
        </p:nvSpPr>
        <p:spPr>
          <a:xfrm>
            <a:off x="137160" y="141732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Visiteur</a:t>
            </a:r>
            <a:endParaRPr lang="en-US" sz="1100" dirty="0"/>
          </a:p>
        </p:txBody>
      </p:sp>
      <p:sp>
        <p:nvSpPr>
          <p:cNvPr id="29" name="Shape 27"/>
          <p:cNvSpPr/>
          <p:nvPr/>
        </p:nvSpPr>
        <p:spPr>
          <a:xfrm>
            <a:off x="1325880" y="1591056"/>
            <a:ext cx="137160" cy="0"/>
          </a:xfrm>
          <a:prstGeom prst="line">
            <a:avLst/>
          </a:prstGeom>
          <a:noFill/>
          <a:ln w="12700">
            <a:solidFill>
              <a:srgbClr val="1E2761"/>
            </a:solidFill>
            <a:prstDash val="solid"/>
          </a:ln>
        </p:spPr>
      </p:sp>
      <p:sp>
        <p:nvSpPr>
          <p:cNvPr id="30" name="Shape 28"/>
          <p:cNvSpPr/>
          <p:nvPr/>
        </p:nvSpPr>
        <p:spPr>
          <a:xfrm>
            <a:off x="137160" y="2286000"/>
            <a:ext cx="1188720" cy="347472"/>
          </a:xfrm>
          <a:prstGeom prst="roundRect">
            <a:avLst>
              <a:gd name="adj" fmla="val 21053"/>
            </a:avLst>
          </a:prstGeom>
          <a:solidFill>
            <a:srgbClr val="1E2761"/>
          </a:solidFill>
          <a:ln w="12700">
            <a:solidFill>
              <a:srgbClr val="1E2761"/>
            </a:solidFill>
            <a:prstDash val="solid"/>
          </a:ln>
        </p:spPr>
      </p:sp>
      <p:sp>
        <p:nvSpPr>
          <p:cNvPr id="31" name="Text 29"/>
          <p:cNvSpPr/>
          <p:nvPr/>
        </p:nvSpPr>
        <p:spPr>
          <a:xfrm>
            <a:off x="137160" y="228600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Utilisateur</a:t>
            </a:r>
            <a:endParaRPr lang="en-US" sz="1100" dirty="0"/>
          </a:p>
        </p:txBody>
      </p:sp>
      <p:sp>
        <p:nvSpPr>
          <p:cNvPr id="32" name="Shape 30"/>
          <p:cNvSpPr/>
          <p:nvPr/>
        </p:nvSpPr>
        <p:spPr>
          <a:xfrm>
            <a:off x="1325880" y="2459736"/>
            <a:ext cx="137160" cy="0"/>
          </a:xfrm>
          <a:prstGeom prst="line">
            <a:avLst/>
          </a:prstGeom>
          <a:noFill/>
          <a:ln w="12700">
            <a:solidFill>
              <a:srgbClr val="1E2761"/>
            </a:solidFill>
            <a:prstDash val="solid"/>
          </a:ln>
        </p:spPr>
      </p:sp>
      <p:sp>
        <p:nvSpPr>
          <p:cNvPr id="33" name="Shape 31"/>
          <p:cNvSpPr/>
          <p:nvPr/>
        </p:nvSpPr>
        <p:spPr>
          <a:xfrm>
            <a:off x="137160" y="3154680"/>
            <a:ext cx="1188720" cy="347472"/>
          </a:xfrm>
          <a:prstGeom prst="roundRect">
            <a:avLst>
              <a:gd name="adj" fmla="val 21053"/>
            </a:avLst>
          </a:prstGeom>
          <a:solidFill>
            <a:srgbClr val="1E2761"/>
          </a:solidFill>
          <a:ln w="12700">
            <a:solidFill>
              <a:srgbClr val="1E2761"/>
            </a:solidFill>
            <a:prstDash val="solid"/>
          </a:ln>
        </p:spPr>
      </p:sp>
      <p:sp>
        <p:nvSpPr>
          <p:cNvPr id="34" name="Text 32"/>
          <p:cNvSpPr/>
          <p:nvPr/>
        </p:nvSpPr>
        <p:spPr>
          <a:xfrm>
            <a:off x="137160" y="315468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Travailleur</a:t>
            </a:r>
            <a:endParaRPr lang="en-US" sz="1100" dirty="0"/>
          </a:p>
        </p:txBody>
      </p:sp>
      <p:sp>
        <p:nvSpPr>
          <p:cNvPr id="35" name="Shape 33"/>
          <p:cNvSpPr/>
          <p:nvPr/>
        </p:nvSpPr>
        <p:spPr>
          <a:xfrm>
            <a:off x="1325880" y="3328416"/>
            <a:ext cx="137160" cy="0"/>
          </a:xfrm>
          <a:prstGeom prst="line">
            <a:avLst/>
          </a:prstGeom>
          <a:noFill/>
          <a:ln w="12700">
            <a:solidFill>
              <a:srgbClr val="1E2761"/>
            </a:solidFill>
            <a:prstDash val="solid"/>
          </a:ln>
        </p:spPr>
      </p:sp>
      <p:sp>
        <p:nvSpPr>
          <p:cNvPr id="36" name="Shape 34"/>
          <p:cNvSpPr/>
          <p:nvPr/>
        </p:nvSpPr>
        <p:spPr>
          <a:xfrm>
            <a:off x="137160" y="4023360"/>
            <a:ext cx="1188720" cy="347472"/>
          </a:xfrm>
          <a:prstGeom prst="roundRect">
            <a:avLst>
              <a:gd name="adj" fmla="val 21053"/>
            </a:avLst>
          </a:prstGeom>
          <a:solidFill>
            <a:srgbClr val="1E2761"/>
          </a:solidFill>
          <a:ln w="12700">
            <a:solidFill>
              <a:srgbClr val="1E2761"/>
            </a:solidFill>
            <a:prstDash val="solid"/>
          </a:ln>
        </p:spPr>
      </p:sp>
      <p:sp>
        <p:nvSpPr>
          <p:cNvPr id="37" name="Text 35"/>
          <p:cNvSpPr/>
          <p:nvPr/>
        </p:nvSpPr>
        <p:spPr>
          <a:xfrm>
            <a:off x="137160" y="402336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38" name="Shape 36"/>
          <p:cNvSpPr/>
          <p:nvPr/>
        </p:nvSpPr>
        <p:spPr>
          <a:xfrm>
            <a:off x="1325880" y="4197096"/>
            <a:ext cx="137160" cy="0"/>
          </a:xfrm>
          <a:prstGeom prst="line">
            <a:avLst/>
          </a:prstGeom>
          <a:noFill/>
          <a:ln w="12700">
            <a:solidFill>
              <a:srgbClr val="1E276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02 — Diagramme de classes</a:t>
            </a:r>
            <a:endParaRPr lang="en-US" sz="2600" dirty="0"/>
          </a:p>
        </p:txBody>
      </p:sp>
      <p:sp>
        <p:nvSpPr>
          <p:cNvPr id="4" name="Shape 2"/>
          <p:cNvSpPr/>
          <p:nvPr/>
        </p:nvSpPr>
        <p:spPr>
          <a:xfrm>
            <a:off x="274320" y="1005840"/>
            <a:ext cx="2377440" cy="347472"/>
          </a:xfrm>
          <a:prstGeom prst="rect">
            <a:avLst/>
          </a:prstGeom>
          <a:solidFill>
            <a:srgbClr val="1E2761"/>
          </a:solidFill>
          <a:ln w="12700">
            <a:solidFill>
              <a:srgbClr val="1E2761"/>
            </a:solidFill>
            <a:prstDash val="solid"/>
          </a:ln>
        </p:spPr>
      </p:sp>
      <p:sp>
        <p:nvSpPr>
          <p:cNvPr id="5" name="Text 3"/>
          <p:cNvSpPr/>
          <p:nvPr/>
        </p:nvSpPr>
        <p:spPr>
          <a:xfrm>
            <a:off x="274320" y="1005840"/>
            <a:ext cx="2377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User</a:t>
            </a:r>
            <a:endParaRPr lang="en-US" sz="1200" dirty="0"/>
          </a:p>
        </p:txBody>
      </p:sp>
      <p:sp>
        <p:nvSpPr>
          <p:cNvPr id="6" name="Shape 4"/>
          <p:cNvSpPr/>
          <p:nvPr/>
        </p:nvSpPr>
        <p:spPr>
          <a:xfrm>
            <a:off x="274320" y="1353312"/>
            <a:ext cx="2377440" cy="1042416"/>
          </a:xfrm>
          <a:prstGeom prst="rect">
            <a:avLst/>
          </a:prstGeom>
          <a:solidFill>
            <a:srgbClr val="EDF1FA"/>
          </a:solidFill>
          <a:ln w="12700">
            <a:solidFill>
              <a:srgbClr val="2952A3"/>
            </a:solidFill>
            <a:prstDash val="solid"/>
          </a:ln>
        </p:spPr>
      </p:sp>
      <p:sp>
        <p:nvSpPr>
          <p:cNvPr id="7" name="Text 5"/>
          <p:cNvSpPr/>
          <p:nvPr/>
        </p:nvSpPr>
        <p:spPr>
          <a:xfrm>
            <a:off x="347472" y="1389888"/>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id, name, email</a:t>
            </a:r>
            <a:endParaRPr lang="en-US" sz="900" dirty="0"/>
          </a:p>
        </p:txBody>
      </p:sp>
      <p:sp>
        <p:nvSpPr>
          <p:cNvPr id="8" name="Text 6"/>
          <p:cNvSpPr/>
          <p:nvPr/>
        </p:nvSpPr>
        <p:spPr>
          <a:xfrm>
            <a:off x="347472" y="1627632"/>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password</a:t>
            </a:r>
            <a:endParaRPr lang="en-US" sz="900" dirty="0"/>
          </a:p>
        </p:txBody>
      </p:sp>
      <p:sp>
        <p:nvSpPr>
          <p:cNvPr id="9" name="Text 7"/>
          <p:cNvSpPr/>
          <p:nvPr/>
        </p:nvSpPr>
        <p:spPr>
          <a:xfrm>
            <a:off x="347472" y="1865376"/>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role: client|manjob|admin</a:t>
            </a:r>
            <a:endParaRPr lang="en-US" sz="900" dirty="0"/>
          </a:p>
        </p:txBody>
      </p:sp>
      <p:sp>
        <p:nvSpPr>
          <p:cNvPr id="10" name="Text 8"/>
          <p:cNvSpPr/>
          <p:nvPr/>
        </p:nvSpPr>
        <p:spPr>
          <a:xfrm>
            <a:off x="347472" y="2103120"/>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image, contact</a:t>
            </a:r>
            <a:endParaRPr lang="en-US" sz="900" dirty="0"/>
          </a:p>
        </p:txBody>
      </p:sp>
      <p:sp>
        <p:nvSpPr>
          <p:cNvPr id="11" name="Shape 9"/>
          <p:cNvSpPr/>
          <p:nvPr/>
        </p:nvSpPr>
        <p:spPr>
          <a:xfrm>
            <a:off x="274320" y="2395728"/>
            <a:ext cx="2377440" cy="804672"/>
          </a:xfrm>
          <a:prstGeom prst="rect">
            <a:avLst/>
          </a:prstGeom>
          <a:solidFill>
            <a:srgbClr val="FFFFFF"/>
          </a:solidFill>
          <a:ln w="12700">
            <a:solidFill>
              <a:srgbClr val="2952A3"/>
            </a:solidFill>
            <a:prstDash val="solid"/>
          </a:ln>
        </p:spPr>
      </p:sp>
      <p:sp>
        <p:nvSpPr>
          <p:cNvPr id="12" name="Text 10"/>
          <p:cNvSpPr/>
          <p:nvPr/>
        </p:nvSpPr>
        <p:spPr>
          <a:xfrm>
            <a:off x="347472" y="2468880"/>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service()</a:t>
            </a:r>
            <a:endParaRPr lang="en-US" sz="900" dirty="0"/>
          </a:p>
        </p:txBody>
      </p:sp>
      <p:sp>
        <p:nvSpPr>
          <p:cNvPr id="13" name="Text 11"/>
          <p:cNvSpPr/>
          <p:nvPr/>
        </p:nvSpPr>
        <p:spPr>
          <a:xfrm>
            <a:off x="347472" y="2706624"/>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posts()</a:t>
            </a:r>
            <a:endParaRPr lang="en-US" sz="900" dirty="0"/>
          </a:p>
        </p:txBody>
      </p:sp>
      <p:sp>
        <p:nvSpPr>
          <p:cNvPr id="14" name="Text 12"/>
          <p:cNvSpPr/>
          <p:nvPr/>
        </p:nvSpPr>
        <p:spPr>
          <a:xfrm>
            <a:off x="347472" y="2944368"/>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clientJobs()</a:t>
            </a:r>
            <a:endParaRPr lang="en-US" sz="900" dirty="0"/>
          </a:p>
        </p:txBody>
      </p:sp>
      <p:sp>
        <p:nvSpPr>
          <p:cNvPr id="15" name="Shape 13"/>
          <p:cNvSpPr/>
          <p:nvPr/>
        </p:nvSpPr>
        <p:spPr>
          <a:xfrm>
            <a:off x="2926080" y="1005840"/>
            <a:ext cx="2377440" cy="347472"/>
          </a:xfrm>
          <a:prstGeom prst="rect">
            <a:avLst/>
          </a:prstGeom>
          <a:solidFill>
            <a:srgbClr val="1E2761"/>
          </a:solidFill>
          <a:ln w="12700">
            <a:solidFill>
              <a:srgbClr val="1E2761"/>
            </a:solidFill>
            <a:prstDash val="solid"/>
          </a:ln>
        </p:spPr>
      </p:sp>
      <p:sp>
        <p:nvSpPr>
          <p:cNvPr id="16" name="Text 14"/>
          <p:cNvSpPr/>
          <p:nvPr/>
        </p:nvSpPr>
        <p:spPr>
          <a:xfrm>
            <a:off x="2926080" y="1005840"/>
            <a:ext cx="2377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Service</a:t>
            </a:r>
            <a:endParaRPr lang="en-US" sz="1200" dirty="0"/>
          </a:p>
        </p:txBody>
      </p:sp>
      <p:sp>
        <p:nvSpPr>
          <p:cNvPr id="17" name="Shape 15"/>
          <p:cNvSpPr/>
          <p:nvPr/>
        </p:nvSpPr>
        <p:spPr>
          <a:xfrm>
            <a:off x="2926080" y="1353312"/>
            <a:ext cx="2377440" cy="804672"/>
          </a:xfrm>
          <a:prstGeom prst="rect">
            <a:avLst/>
          </a:prstGeom>
          <a:solidFill>
            <a:srgbClr val="EDF1FA"/>
          </a:solidFill>
          <a:ln w="12700">
            <a:solidFill>
              <a:srgbClr val="2952A3"/>
            </a:solidFill>
            <a:prstDash val="solid"/>
          </a:ln>
        </p:spPr>
      </p:sp>
      <p:sp>
        <p:nvSpPr>
          <p:cNvPr id="18" name="Text 16"/>
          <p:cNvSpPr/>
          <p:nvPr/>
        </p:nvSpPr>
        <p:spPr>
          <a:xfrm>
            <a:off x="2999232" y="1389888"/>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id</a:t>
            </a:r>
            <a:endParaRPr lang="en-US" sz="900" dirty="0"/>
          </a:p>
        </p:txBody>
      </p:sp>
      <p:sp>
        <p:nvSpPr>
          <p:cNvPr id="19" name="Text 17"/>
          <p:cNvSpPr/>
          <p:nvPr/>
        </p:nvSpPr>
        <p:spPr>
          <a:xfrm>
            <a:off x="2999232" y="1627632"/>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name, description</a:t>
            </a:r>
            <a:endParaRPr lang="en-US" sz="900" dirty="0"/>
          </a:p>
        </p:txBody>
      </p:sp>
      <p:sp>
        <p:nvSpPr>
          <p:cNvPr id="20" name="Text 18"/>
          <p:cNvSpPr/>
          <p:nvPr/>
        </p:nvSpPr>
        <p:spPr>
          <a:xfrm>
            <a:off x="2999232" y="1865376"/>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image</a:t>
            </a:r>
            <a:endParaRPr lang="en-US" sz="900" dirty="0"/>
          </a:p>
        </p:txBody>
      </p:sp>
      <p:sp>
        <p:nvSpPr>
          <p:cNvPr id="21" name="Shape 19"/>
          <p:cNvSpPr/>
          <p:nvPr/>
        </p:nvSpPr>
        <p:spPr>
          <a:xfrm>
            <a:off x="2926080" y="2157984"/>
            <a:ext cx="2377440" cy="566928"/>
          </a:xfrm>
          <a:prstGeom prst="rect">
            <a:avLst/>
          </a:prstGeom>
          <a:solidFill>
            <a:srgbClr val="FFFFFF"/>
          </a:solidFill>
          <a:ln w="12700">
            <a:solidFill>
              <a:srgbClr val="2952A3"/>
            </a:solidFill>
            <a:prstDash val="solid"/>
          </a:ln>
        </p:spPr>
      </p:sp>
      <p:sp>
        <p:nvSpPr>
          <p:cNvPr id="22" name="Text 20"/>
          <p:cNvSpPr/>
          <p:nvPr/>
        </p:nvSpPr>
        <p:spPr>
          <a:xfrm>
            <a:off x="2999232" y="2231136"/>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users()</a:t>
            </a:r>
            <a:endParaRPr lang="en-US" sz="900" dirty="0"/>
          </a:p>
        </p:txBody>
      </p:sp>
      <p:sp>
        <p:nvSpPr>
          <p:cNvPr id="23" name="Text 21"/>
          <p:cNvSpPr/>
          <p:nvPr/>
        </p:nvSpPr>
        <p:spPr>
          <a:xfrm>
            <a:off x="2999232" y="2468880"/>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posts()</a:t>
            </a:r>
            <a:endParaRPr lang="en-US" sz="900" dirty="0"/>
          </a:p>
        </p:txBody>
      </p:sp>
      <p:sp>
        <p:nvSpPr>
          <p:cNvPr id="24" name="Shape 22"/>
          <p:cNvSpPr/>
          <p:nvPr/>
        </p:nvSpPr>
        <p:spPr>
          <a:xfrm>
            <a:off x="5577840" y="1005840"/>
            <a:ext cx="3291840" cy="347472"/>
          </a:xfrm>
          <a:prstGeom prst="rect">
            <a:avLst/>
          </a:prstGeom>
          <a:solidFill>
            <a:srgbClr val="1E2761"/>
          </a:solidFill>
          <a:ln w="12700">
            <a:solidFill>
              <a:srgbClr val="1E2761"/>
            </a:solidFill>
            <a:prstDash val="solid"/>
          </a:ln>
        </p:spPr>
      </p:sp>
      <p:sp>
        <p:nvSpPr>
          <p:cNvPr id="25" name="Text 23"/>
          <p:cNvSpPr/>
          <p:nvPr/>
        </p:nvSpPr>
        <p:spPr>
          <a:xfrm>
            <a:off x="5577840" y="1005840"/>
            <a:ext cx="32918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Post</a:t>
            </a:r>
            <a:endParaRPr lang="en-US" sz="1200" dirty="0"/>
          </a:p>
        </p:txBody>
      </p:sp>
      <p:sp>
        <p:nvSpPr>
          <p:cNvPr id="26" name="Shape 24"/>
          <p:cNvSpPr/>
          <p:nvPr/>
        </p:nvSpPr>
        <p:spPr>
          <a:xfrm>
            <a:off x="5577840" y="1353312"/>
            <a:ext cx="3291840" cy="804672"/>
          </a:xfrm>
          <a:prstGeom prst="rect">
            <a:avLst/>
          </a:prstGeom>
          <a:solidFill>
            <a:srgbClr val="EDF1FA"/>
          </a:solidFill>
          <a:ln w="12700">
            <a:solidFill>
              <a:srgbClr val="2952A3"/>
            </a:solidFill>
            <a:prstDash val="solid"/>
          </a:ln>
        </p:spPr>
      </p:sp>
      <p:sp>
        <p:nvSpPr>
          <p:cNvPr id="27" name="Text 25"/>
          <p:cNvSpPr/>
          <p:nvPr/>
        </p:nvSpPr>
        <p:spPr>
          <a:xfrm>
            <a:off x="5650992" y="1389888"/>
            <a:ext cx="32004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id, user_id, service_id</a:t>
            </a:r>
            <a:endParaRPr lang="en-US" sz="900" dirty="0"/>
          </a:p>
        </p:txBody>
      </p:sp>
      <p:sp>
        <p:nvSpPr>
          <p:cNvPr id="28" name="Text 26"/>
          <p:cNvSpPr/>
          <p:nvPr/>
        </p:nvSpPr>
        <p:spPr>
          <a:xfrm>
            <a:off x="5650992" y="1627632"/>
            <a:ext cx="32004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title, description</a:t>
            </a:r>
            <a:endParaRPr lang="en-US" sz="900" dirty="0"/>
          </a:p>
        </p:txBody>
      </p:sp>
      <p:sp>
        <p:nvSpPr>
          <p:cNvPr id="29" name="Text 27"/>
          <p:cNvSpPr/>
          <p:nvPr/>
        </p:nvSpPr>
        <p:spPr>
          <a:xfrm>
            <a:off x="5650992" y="1865376"/>
            <a:ext cx="32004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image</a:t>
            </a:r>
            <a:endParaRPr lang="en-US" sz="900" dirty="0"/>
          </a:p>
        </p:txBody>
      </p:sp>
      <p:sp>
        <p:nvSpPr>
          <p:cNvPr id="30" name="Shape 28"/>
          <p:cNvSpPr/>
          <p:nvPr/>
        </p:nvSpPr>
        <p:spPr>
          <a:xfrm>
            <a:off x="5577840" y="2157984"/>
            <a:ext cx="3291840" cy="566928"/>
          </a:xfrm>
          <a:prstGeom prst="rect">
            <a:avLst/>
          </a:prstGeom>
          <a:solidFill>
            <a:srgbClr val="FFFFFF"/>
          </a:solidFill>
          <a:ln w="12700">
            <a:solidFill>
              <a:srgbClr val="2952A3"/>
            </a:solidFill>
            <a:prstDash val="solid"/>
          </a:ln>
        </p:spPr>
      </p:sp>
      <p:sp>
        <p:nvSpPr>
          <p:cNvPr id="31" name="Text 29"/>
          <p:cNvSpPr/>
          <p:nvPr/>
        </p:nvSpPr>
        <p:spPr>
          <a:xfrm>
            <a:off x="5650992" y="2231136"/>
            <a:ext cx="32004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user()</a:t>
            </a:r>
            <a:endParaRPr lang="en-US" sz="900" dirty="0"/>
          </a:p>
        </p:txBody>
      </p:sp>
      <p:sp>
        <p:nvSpPr>
          <p:cNvPr id="32" name="Text 30"/>
          <p:cNvSpPr/>
          <p:nvPr/>
        </p:nvSpPr>
        <p:spPr>
          <a:xfrm>
            <a:off x="5650992" y="2468880"/>
            <a:ext cx="32004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service()</a:t>
            </a:r>
            <a:endParaRPr lang="en-US" sz="900" dirty="0"/>
          </a:p>
        </p:txBody>
      </p:sp>
      <p:sp>
        <p:nvSpPr>
          <p:cNvPr id="33" name="Shape 31"/>
          <p:cNvSpPr/>
          <p:nvPr/>
        </p:nvSpPr>
        <p:spPr>
          <a:xfrm>
            <a:off x="274320" y="3154680"/>
            <a:ext cx="2377440" cy="347472"/>
          </a:xfrm>
          <a:prstGeom prst="rect">
            <a:avLst/>
          </a:prstGeom>
          <a:solidFill>
            <a:srgbClr val="1E2761"/>
          </a:solidFill>
          <a:ln w="12700">
            <a:solidFill>
              <a:srgbClr val="1E2761"/>
            </a:solidFill>
            <a:prstDash val="solid"/>
          </a:ln>
        </p:spPr>
      </p:sp>
      <p:sp>
        <p:nvSpPr>
          <p:cNvPr id="34" name="Text 32"/>
          <p:cNvSpPr/>
          <p:nvPr/>
        </p:nvSpPr>
        <p:spPr>
          <a:xfrm>
            <a:off x="274320" y="3154680"/>
            <a:ext cx="2377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ClientJob</a:t>
            </a:r>
            <a:endParaRPr lang="en-US" sz="1200" dirty="0"/>
          </a:p>
        </p:txBody>
      </p:sp>
      <p:sp>
        <p:nvSpPr>
          <p:cNvPr id="35" name="Shape 33"/>
          <p:cNvSpPr/>
          <p:nvPr/>
        </p:nvSpPr>
        <p:spPr>
          <a:xfrm>
            <a:off x="274320" y="3502152"/>
            <a:ext cx="2377440" cy="804672"/>
          </a:xfrm>
          <a:prstGeom prst="rect">
            <a:avLst/>
          </a:prstGeom>
          <a:solidFill>
            <a:srgbClr val="EDF1FA"/>
          </a:solidFill>
          <a:ln w="12700">
            <a:solidFill>
              <a:srgbClr val="2952A3"/>
            </a:solidFill>
            <a:prstDash val="solid"/>
          </a:ln>
        </p:spPr>
      </p:sp>
      <p:sp>
        <p:nvSpPr>
          <p:cNvPr id="36" name="Text 34"/>
          <p:cNvSpPr/>
          <p:nvPr/>
        </p:nvSpPr>
        <p:spPr>
          <a:xfrm>
            <a:off x="347472" y="3538728"/>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id, user_id</a:t>
            </a:r>
            <a:endParaRPr lang="en-US" sz="900" dirty="0"/>
          </a:p>
        </p:txBody>
      </p:sp>
      <p:sp>
        <p:nvSpPr>
          <p:cNvPr id="37" name="Text 35"/>
          <p:cNvSpPr/>
          <p:nvPr/>
        </p:nvSpPr>
        <p:spPr>
          <a:xfrm>
            <a:off x="347472" y="3776472"/>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title</a:t>
            </a:r>
            <a:endParaRPr lang="en-US" sz="900" dirty="0"/>
          </a:p>
        </p:txBody>
      </p:sp>
      <p:sp>
        <p:nvSpPr>
          <p:cNvPr id="38" name="Text 36"/>
          <p:cNvSpPr/>
          <p:nvPr/>
        </p:nvSpPr>
        <p:spPr>
          <a:xfrm>
            <a:off x="347472" y="4014216"/>
            <a:ext cx="2286000" cy="237744"/>
          </a:xfrm>
          <a:prstGeom prst="rect">
            <a:avLst/>
          </a:prstGeom>
          <a:noFill/>
          <a:ln/>
        </p:spPr>
        <p:txBody>
          <a:bodyPr wrap="square" lIns="0" tIns="0" rIns="0" bIns="0" rtlCol="0" anchor="ctr"/>
          <a:lstStyle/>
          <a:p>
            <a:pPr marL="0" indent="0" algn="l">
              <a:buNone/>
            </a:pPr>
            <a:r>
              <a:rPr lang="en-US" sz="900" dirty="0">
                <a:solidFill>
                  <a:srgbClr val="1A1F3C"/>
                </a:solidFill>
                <a:latin typeface="Courier New" pitchFamily="34" charset="0"/>
                <a:ea typeface="Courier New" pitchFamily="34" charset="-122"/>
                <a:cs typeface="Courier New" pitchFamily="34" charset="-120"/>
              </a:rPr>
              <a:t>status='open'</a:t>
            </a:r>
            <a:endParaRPr lang="en-US" sz="900" dirty="0"/>
          </a:p>
        </p:txBody>
      </p:sp>
      <p:sp>
        <p:nvSpPr>
          <p:cNvPr id="39" name="Shape 37"/>
          <p:cNvSpPr/>
          <p:nvPr/>
        </p:nvSpPr>
        <p:spPr>
          <a:xfrm>
            <a:off x="274320" y="4306824"/>
            <a:ext cx="2377440" cy="329184"/>
          </a:xfrm>
          <a:prstGeom prst="rect">
            <a:avLst/>
          </a:prstGeom>
          <a:solidFill>
            <a:srgbClr val="FFFFFF"/>
          </a:solidFill>
          <a:ln w="12700">
            <a:solidFill>
              <a:srgbClr val="2952A3"/>
            </a:solidFill>
            <a:prstDash val="solid"/>
          </a:ln>
        </p:spPr>
      </p:sp>
      <p:sp>
        <p:nvSpPr>
          <p:cNvPr id="40" name="Text 38"/>
          <p:cNvSpPr/>
          <p:nvPr/>
        </p:nvSpPr>
        <p:spPr>
          <a:xfrm>
            <a:off x="347472" y="4379976"/>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user()</a:t>
            </a:r>
            <a:endParaRPr lang="en-US" sz="900" dirty="0"/>
          </a:p>
        </p:txBody>
      </p:sp>
      <p:sp>
        <p:nvSpPr>
          <p:cNvPr id="41" name="Shape 39"/>
          <p:cNvSpPr/>
          <p:nvPr/>
        </p:nvSpPr>
        <p:spPr>
          <a:xfrm>
            <a:off x="2926080" y="3154680"/>
            <a:ext cx="2377440" cy="347472"/>
          </a:xfrm>
          <a:prstGeom prst="rect">
            <a:avLst/>
          </a:prstGeom>
          <a:solidFill>
            <a:srgbClr val="1E2761"/>
          </a:solidFill>
          <a:ln w="12700">
            <a:solidFill>
              <a:srgbClr val="1E2761"/>
            </a:solidFill>
            <a:prstDash val="solid"/>
          </a:ln>
        </p:spPr>
      </p:sp>
      <p:sp>
        <p:nvSpPr>
          <p:cNvPr id="42" name="Text 40"/>
          <p:cNvSpPr/>
          <p:nvPr/>
        </p:nvSpPr>
        <p:spPr>
          <a:xfrm>
            <a:off x="2926080" y="3154680"/>
            <a:ext cx="2377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FrontendController</a:t>
            </a:r>
            <a:endParaRPr lang="en-US" sz="1200" dirty="0"/>
          </a:p>
        </p:txBody>
      </p:sp>
      <p:sp>
        <p:nvSpPr>
          <p:cNvPr id="43" name="Shape 41"/>
          <p:cNvSpPr/>
          <p:nvPr/>
        </p:nvSpPr>
        <p:spPr>
          <a:xfrm>
            <a:off x="2926080" y="3502152"/>
            <a:ext cx="2377440" cy="91440"/>
          </a:xfrm>
          <a:prstGeom prst="rect">
            <a:avLst/>
          </a:prstGeom>
          <a:solidFill>
            <a:srgbClr val="EDF1FA"/>
          </a:solidFill>
          <a:ln w="12700">
            <a:solidFill>
              <a:srgbClr val="2952A3"/>
            </a:solidFill>
            <a:prstDash val="solid"/>
          </a:ln>
        </p:spPr>
      </p:sp>
      <p:sp>
        <p:nvSpPr>
          <p:cNvPr id="44" name="Shape 42"/>
          <p:cNvSpPr/>
          <p:nvPr/>
        </p:nvSpPr>
        <p:spPr>
          <a:xfrm>
            <a:off x="2926080" y="3593592"/>
            <a:ext cx="2377440" cy="1280160"/>
          </a:xfrm>
          <a:prstGeom prst="rect">
            <a:avLst/>
          </a:prstGeom>
          <a:solidFill>
            <a:srgbClr val="FFFFFF"/>
          </a:solidFill>
          <a:ln w="12700">
            <a:solidFill>
              <a:srgbClr val="2952A3"/>
            </a:solidFill>
            <a:prstDash val="solid"/>
          </a:ln>
        </p:spPr>
      </p:sp>
      <p:sp>
        <p:nvSpPr>
          <p:cNvPr id="45" name="Text 43"/>
          <p:cNvSpPr/>
          <p:nvPr/>
        </p:nvSpPr>
        <p:spPr>
          <a:xfrm>
            <a:off x="2999232" y="3666744"/>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home()</a:t>
            </a:r>
            <a:endParaRPr lang="en-US" sz="900" dirty="0"/>
          </a:p>
        </p:txBody>
      </p:sp>
      <p:sp>
        <p:nvSpPr>
          <p:cNvPr id="46" name="Text 44"/>
          <p:cNvSpPr/>
          <p:nvPr/>
        </p:nvSpPr>
        <p:spPr>
          <a:xfrm>
            <a:off x="2999232" y="3904488"/>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about()</a:t>
            </a:r>
            <a:endParaRPr lang="en-US" sz="900" dirty="0"/>
          </a:p>
        </p:txBody>
      </p:sp>
      <p:sp>
        <p:nvSpPr>
          <p:cNvPr id="47" name="Text 45"/>
          <p:cNvSpPr/>
          <p:nvPr/>
        </p:nvSpPr>
        <p:spPr>
          <a:xfrm>
            <a:off x="2999232" y="4142232"/>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contact()</a:t>
            </a:r>
            <a:endParaRPr lang="en-US" sz="900" dirty="0"/>
          </a:p>
        </p:txBody>
      </p:sp>
      <p:sp>
        <p:nvSpPr>
          <p:cNvPr id="48" name="Text 46"/>
          <p:cNvSpPr/>
          <p:nvPr/>
        </p:nvSpPr>
        <p:spPr>
          <a:xfrm>
            <a:off x="2999232" y="4379976"/>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sendContact()</a:t>
            </a:r>
            <a:endParaRPr lang="en-US" sz="900" dirty="0"/>
          </a:p>
        </p:txBody>
      </p:sp>
      <p:sp>
        <p:nvSpPr>
          <p:cNvPr id="49" name="Text 47"/>
          <p:cNvSpPr/>
          <p:nvPr/>
        </p:nvSpPr>
        <p:spPr>
          <a:xfrm>
            <a:off x="2999232" y="4617720"/>
            <a:ext cx="22860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providers()</a:t>
            </a:r>
            <a:endParaRPr lang="en-US" sz="900" dirty="0"/>
          </a:p>
        </p:txBody>
      </p:sp>
      <p:sp>
        <p:nvSpPr>
          <p:cNvPr id="50" name="Shape 48"/>
          <p:cNvSpPr/>
          <p:nvPr/>
        </p:nvSpPr>
        <p:spPr>
          <a:xfrm>
            <a:off x="5577840" y="3154680"/>
            <a:ext cx="3291840" cy="347472"/>
          </a:xfrm>
          <a:prstGeom prst="rect">
            <a:avLst/>
          </a:prstGeom>
          <a:solidFill>
            <a:srgbClr val="1E2761"/>
          </a:solidFill>
          <a:ln w="12700">
            <a:solidFill>
              <a:srgbClr val="1E2761"/>
            </a:solidFill>
            <a:prstDash val="solid"/>
          </a:ln>
        </p:spPr>
      </p:sp>
      <p:sp>
        <p:nvSpPr>
          <p:cNvPr id="51" name="Text 49"/>
          <p:cNvSpPr/>
          <p:nvPr/>
        </p:nvSpPr>
        <p:spPr>
          <a:xfrm>
            <a:off x="5577840" y="3154680"/>
            <a:ext cx="32918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FrontendContentService</a:t>
            </a:r>
            <a:endParaRPr lang="en-US" sz="1200" dirty="0"/>
          </a:p>
        </p:txBody>
      </p:sp>
      <p:sp>
        <p:nvSpPr>
          <p:cNvPr id="52" name="Shape 50"/>
          <p:cNvSpPr/>
          <p:nvPr/>
        </p:nvSpPr>
        <p:spPr>
          <a:xfrm>
            <a:off x="5577840" y="3502152"/>
            <a:ext cx="3291840" cy="91440"/>
          </a:xfrm>
          <a:prstGeom prst="rect">
            <a:avLst/>
          </a:prstGeom>
          <a:solidFill>
            <a:srgbClr val="EDF1FA"/>
          </a:solidFill>
          <a:ln w="12700">
            <a:solidFill>
              <a:srgbClr val="2952A3"/>
            </a:solidFill>
            <a:prstDash val="solid"/>
          </a:ln>
        </p:spPr>
      </p:sp>
      <p:sp>
        <p:nvSpPr>
          <p:cNvPr id="53" name="Shape 51"/>
          <p:cNvSpPr/>
          <p:nvPr/>
        </p:nvSpPr>
        <p:spPr>
          <a:xfrm>
            <a:off x="5577840" y="3593592"/>
            <a:ext cx="3291840" cy="566928"/>
          </a:xfrm>
          <a:prstGeom prst="rect">
            <a:avLst/>
          </a:prstGeom>
          <a:solidFill>
            <a:srgbClr val="FFFFFF"/>
          </a:solidFill>
          <a:ln w="12700">
            <a:solidFill>
              <a:srgbClr val="2952A3"/>
            </a:solidFill>
            <a:prstDash val="solid"/>
          </a:ln>
        </p:spPr>
      </p:sp>
      <p:sp>
        <p:nvSpPr>
          <p:cNvPr id="54" name="Text 52"/>
          <p:cNvSpPr/>
          <p:nvPr/>
        </p:nvSpPr>
        <p:spPr>
          <a:xfrm>
            <a:off x="5650992" y="3666744"/>
            <a:ext cx="32004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home(), about()</a:t>
            </a:r>
            <a:endParaRPr lang="en-US" sz="900" dirty="0"/>
          </a:p>
        </p:txBody>
      </p:sp>
      <p:sp>
        <p:nvSpPr>
          <p:cNvPr id="55" name="Text 53"/>
          <p:cNvSpPr/>
          <p:nvPr/>
        </p:nvSpPr>
        <p:spPr>
          <a:xfrm>
            <a:off x="5650992" y="3904488"/>
            <a:ext cx="3200400" cy="237744"/>
          </a:xfrm>
          <a:prstGeom prst="rect">
            <a:avLst/>
          </a:prstGeom>
          <a:noFill/>
          <a:ln/>
        </p:spPr>
        <p:txBody>
          <a:bodyPr wrap="square" lIns="0" tIns="0" rIns="0" bIns="0" rtlCol="0" anchor="ctr"/>
          <a:lstStyle/>
          <a:p>
            <a:pPr marL="0" indent="0" algn="l">
              <a:buNone/>
            </a:pPr>
            <a:r>
              <a:rPr lang="en-US" sz="900" dirty="0">
                <a:solidFill>
                  <a:srgbClr val="2952A3"/>
                </a:solidFill>
                <a:latin typeface="Courier New" pitchFamily="34" charset="0"/>
                <a:ea typeface="Courier New" pitchFamily="34" charset="-122"/>
                <a:cs typeface="Courier New" pitchFamily="34" charset="-120"/>
              </a:rPr>
              <a:t>contact(), signup()</a:t>
            </a:r>
            <a:endParaRPr lang="en-US" sz="900" dirty="0"/>
          </a:p>
        </p:txBody>
      </p:sp>
      <p:sp>
        <p:nvSpPr>
          <p:cNvPr id="56" name="Shape 54"/>
          <p:cNvSpPr/>
          <p:nvPr/>
        </p:nvSpPr>
        <p:spPr>
          <a:xfrm>
            <a:off x="2651760" y="1600200"/>
            <a:ext cx="274320" cy="0"/>
          </a:xfrm>
          <a:prstGeom prst="line">
            <a:avLst/>
          </a:prstGeom>
          <a:noFill/>
          <a:ln w="12700">
            <a:solidFill>
              <a:srgbClr val="F5A623"/>
            </a:solidFill>
            <a:prstDash val="solid"/>
          </a:ln>
        </p:spPr>
      </p:sp>
      <p:sp>
        <p:nvSpPr>
          <p:cNvPr id="57" name="Text 55"/>
          <p:cNvSpPr/>
          <p:nvPr/>
        </p:nvSpPr>
        <p:spPr>
          <a:xfrm>
            <a:off x="2606040" y="1417320"/>
            <a:ext cx="731520" cy="182880"/>
          </a:xfrm>
          <a:prstGeom prst="rect">
            <a:avLst/>
          </a:prstGeom>
          <a:noFill/>
          <a:ln/>
        </p:spPr>
        <p:txBody>
          <a:bodyPr wrap="square" lIns="0" tIns="0" rIns="0" bIns="0" rtlCol="0" anchor="ctr"/>
          <a:lstStyle/>
          <a:p>
            <a:pPr marL="0" indent="0" algn="ctr">
              <a:buNone/>
            </a:pPr>
            <a:r>
              <a:rPr lang="en-US" sz="800" dirty="0">
                <a:solidFill>
                  <a:srgbClr val="F5A623"/>
                </a:solidFill>
                <a:latin typeface="Calibri" pitchFamily="34" charset="0"/>
                <a:ea typeface="Calibri" pitchFamily="34" charset="-122"/>
                <a:cs typeface="Calibri" pitchFamily="34" charset="-120"/>
              </a:rPr>
              <a:t>1 — 0..*</a:t>
            </a:r>
            <a:endParaRPr lang="en-US" sz="800" dirty="0"/>
          </a:p>
        </p:txBody>
      </p:sp>
      <p:sp>
        <p:nvSpPr>
          <p:cNvPr id="58" name="Shape 56"/>
          <p:cNvSpPr/>
          <p:nvPr/>
        </p:nvSpPr>
        <p:spPr>
          <a:xfrm>
            <a:off x="5303520" y="1600200"/>
            <a:ext cx="274320" cy="0"/>
          </a:xfrm>
          <a:prstGeom prst="line">
            <a:avLst/>
          </a:prstGeom>
          <a:noFill/>
          <a:ln w="12700">
            <a:solidFill>
              <a:srgbClr val="F5A623"/>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02 — Diagramme de séquence : Inscription Travailleur</a:t>
            </a:r>
            <a:endParaRPr lang="en-US" sz="2200" dirty="0"/>
          </a:p>
        </p:txBody>
      </p:sp>
      <p:sp>
        <p:nvSpPr>
          <p:cNvPr id="4" name="Shape 2"/>
          <p:cNvSpPr/>
          <p:nvPr/>
        </p:nvSpPr>
        <p:spPr>
          <a:xfrm>
            <a:off x="228600" y="960120"/>
            <a:ext cx="1188720" cy="347472"/>
          </a:xfrm>
          <a:prstGeom prst="roundRect">
            <a:avLst>
              <a:gd name="adj" fmla="val 15789"/>
            </a:avLst>
          </a:prstGeom>
          <a:solidFill>
            <a:srgbClr val="1E2761"/>
          </a:solidFill>
          <a:ln w="12700">
            <a:solidFill>
              <a:srgbClr val="1E2761"/>
            </a:solidFill>
            <a:prstDash val="solid"/>
          </a:ln>
        </p:spPr>
      </p:sp>
      <p:sp>
        <p:nvSpPr>
          <p:cNvPr id="5" name="Text 3"/>
          <p:cNvSpPr/>
          <p:nvPr/>
        </p:nvSpPr>
        <p:spPr>
          <a:xfrm>
            <a:off x="228600" y="960120"/>
            <a:ext cx="11887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Visiteur</a:t>
            </a:r>
            <a:endParaRPr lang="en-US" sz="850" dirty="0"/>
          </a:p>
        </p:txBody>
      </p:sp>
      <p:sp>
        <p:nvSpPr>
          <p:cNvPr id="6" name="Shape 4"/>
          <p:cNvSpPr/>
          <p:nvPr/>
        </p:nvSpPr>
        <p:spPr>
          <a:xfrm>
            <a:off x="822960" y="1307592"/>
            <a:ext cx="0" cy="3657600"/>
          </a:xfrm>
          <a:prstGeom prst="line">
            <a:avLst/>
          </a:prstGeom>
          <a:noFill/>
          <a:ln w="12700">
            <a:solidFill>
              <a:srgbClr val="2952A3"/>
            </a:solidFill>
            <a:prstDash val="dash"/>
          </a:ln>
        </p:spPr>
      </p:sp>
      <p:sp>
        <p:nvSpPr>
          <p:cNvPr id="7" name="Shape 5"/>
          <p:cNvSpPr/>
          <p:nvPr/>
        </p:nvSpPr>
        <p:spPr>
          <a:xfrm>
            <a:off x="1874520" y="960120"/>
            <a:ext cx="1188720" cy="347472"/>
          </a:xfrm>
          <a:prstGeom prst="roundRect">
            <a:avLst>
              <a:gd name="adj" fmla="val 15789"/>
            </a:avLst>
          </a:prstGeom>
          <a:solidFill>
            <a:srgbClr val="1E2761"/>
          </a:solidFill>
          <a:ln w="12700">
            <a:solidFill>
              <a:srgbClr val="1E2761"/>
            </a:solidFill>
            <a:prstDash val="solid"/>
          </a:ln>
        </p:spPr>
      </p:sp>
      <p:sp>
        <p:nvSpPr>
          <p:cNvPr id="8" name="Text 6"/>
          <p:cNvSpPr/>
          <p:nvPr/>
        </p:nvSpPr>
        <p:spPr>
          <a:xfrm>
            <a:off x="1874520" y="960120"/>
            <a:ext cx="11887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Navigateur</a:t>
            </a:r>
            <a:endParaRPr lang="en-US" sz="850" dirty="0"/>
          </a:p>
        </p:txBody>
      </p:sp>
      <p:sp>
        <p:nvSpPr>
          <p:cNvPr id="9" name="Shape 7"/>
          <p:cNvSpPr/>
          <p:nvPr/>
        </p:nvSpPr>
        <p:spPr>
          <a:xfrm>
            <a:off x="2468880" y="1307592"/>
            <a:ext cx="0" cy="3657600"/>
          </a:xfrm>
          <a:prstGeom prst="line">
            <a:avLst/>
          </a:prstGeom>
          <a:noFill/>
          <a:ln w="12700">
            <a:solidFill>
              <a:srgbClr val="2952A3"/>
            </a:solidFill>
            <a:prstDash val="dash"/>
          </a:ln>
        </p:spPr>
      </p:sp>
      <p:sp>
        <p:nvSpPr>
          <p:cNvPr id="10" name="Shape 8"/>
          <p:cNvSpPr/>
          <p:nvPr/>
        </p:nvSpPr>
        <p:spPr>
          <a:xfrm>
            <a:off x="3520440" y="960120"/>
            <a:ext cx="1188720" cy="347472"/>
          </a:xfrm>
          <a:prstGeom prst="roundRect">
            <a:avLst>
              <a:gd name="adj" fmla="val 15789"/>
            </a:avLst>
          </a:prstGeom>
          <a:solidFill>
            <a:srgbClr val="1E2761"/>
          </a:solidFill>
          <a:ln w="12700">
            <a:solidFill>
              <a:srgbClr val="1E2761"/>
            </a:solidFill>
            <a:prstDash val="solid"/>
          </a:ln>
        </p:spPr>
      </p:sp>
      <p:sp>
        <p:nvSpPr>
          <p:cNvPr id="11" name="Text 9"/>
          <p:cNvSpPr/>
          <p:nvPr/>
        </p:nvSpPr>
        <p:spPr>
          <a:xfrm>
            <a:off x="3520440" y="960120"/>
            <a:ext cx="11887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SignupController</a:t>
            </a:r>
            <a:endParaRPr lang="en-US" sz="850" dirty="0"/>
          </a:p>
        </p:txBody>
      </p:sp>
      <p:sp>
        <p:nvSpPr>
          <p:cNvPr id="12" name="Shape 10"/>
          <p:cNvSpPr/>
          <p:nvPr/>
        </p:nvSpPr>
        <p:spPr>
          <a:xfrm>
            <a:off x="4114800" y="1307592"/>
            <a:ext cx="0" cy="3657600"/>
          </a:xfrm>
          <a:prstGeom prst="line">
            <a:avLst/>
          </a:prstGeom>
          <a:noFill/>
          <a:ln w="12700">
            <a:solidFill>
              <a:srgbClr val="2952A3"/>
            </a:solidFill>
            <a:prstDash val="dash"/>
          </a:ln>
        </p:spPr>
      </p:sp>
      <p:sp>
        <p:nvSpPr>
          <p:cNvPr id="13" name="Shape 11"/>
          <p:cNvSpPr/>
          <p:nvPr/>
        </p:nvSpPr>
        <p:spPr>
          <a:xfrm>
            <a:off x="5303520" y="960120"/>
            <a:ext cx="1188720" cy="347472"/>
          </a:xfrm>
          <a:prstGeom prst="roundRect">
            <a:avLst>
              <a:gd name="adj" fmla="val 15789"/>
            </a:avLst>
          </a:prstGeom>
          <a:solidFill>
            <a:srgbClr val="1E2761"/>
          </a:solidFill>
          <a:ln w="12700">
            <a:solidFill>
              <a:srgbClr val="1E2761"/>
            </a:solidFill>
            <a:prstDash val="solid"/>
          </a:ln>
        </p:spPr>
      </p:sp>
      <p:sp>
        <p:nvSpPr>
          <p:cNvPr id="14" name="Text 12"/>
          <p:cNvSpPr/>
          <p:nvPr/>
        </p:nvSpPr>
        <p:spPr>
          <a:xfrm>
            <a:off x="5303520" y="960120"/>
            <a:ext cx="11887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Base de données</a:t>
            </a:r>
            <a:endParaRPr lang="en-US" sz="850" dirty="0"/>
          </a:p>
        </p:txBody>
      </p:sp>
      <p:sp>
        <p:nvSpPr>
          <p:cNvPr id="15" name="Shape 13"/>
          <p:cNvSpPr/>
          <p:nvPr/>
        </p:nvSpPr>
        <p:spPr>
          <a:xfrm>
            <a:off x="5897880" y="1307592"/>
            <a:ext cx="0" cy="3657600"/>
          </a:xfrm>
          <a:prstGeom prst="line">
            <a:avLst/>
          </a:prstGeom>
          <a:noFill/>
          <a:ln w="12700">
            <a:solidFill>
              <a:srgbClr val="2952A3"/>
            </a:solidFill>
            <a:prstDash val="dash"/>
          </a:ln>
        </p:spPr>
      </p:sp>
      <p:sp>
        <p:nvSpPr>
          <p:cNvPr id="16" name="Shape 14"/>
          <p:cNvSpPr/>
          <p:nvPr/>
        </p:nvSpPr>
        <p:spPr>
          <a:xfrm>
            <a:off x="7086600" y="960120"/>
            <a:ext cx="1188720" cy="347472"/>
          </a:xfrm>
          <a:prstGeom prst="roundRect">
            <a:avLst>
              <a:gd name="adj" fmla="val 15789"/>
            </a:avLst>
          </a:prstGeom>
          <a:solidFill>
            <a:srgbClr val="1E2761"/>
          </a:solidFill>
          <a:ln w="12700">
            <a:solidFill>
              <a:srgbClr val="1E2761"/>
            </a:solidFill>
            <a:prstDash val="solid"/>
          </a:ln>
        </p:spPr>
      </p:sp>
      <p:sp>
        <p:nvSpPr>
          <p:cNvPr id="17" name="Text 15"/>
          <p:cNvSpPr/>
          <p:nvPr/>
        </p:nvSpPr>
        <p:spPr>
          <a:xfrm>
            <a:off x="7086600" y="960120"/>
            <a:ext cx="118872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Auth/Session</a:t>
            </a:r>
            <a:endParaRPr lang="en-US" sz="850" dirty="0"/>
          </a:p>
        </p:txBody>
      </p:sp>
      <p:sp>
        <p:nvSpPr>
          <p:cNvPr id="18" name="Shape 16"/>
          <p:cNvSpPr/>
          <p:nvPr/>
        </p:nvSpPr>
        <p:spPr>
          <a:xfrm>
            <a:off x="7680960" y="1307592"/>
            <a:ext cx="0" cy="3657600"/>
          </a:xfrm>
          <a:prstGeom prst="line">
            <a:avLst/>
          </a:prstGeom>
          <a:noFill/>
          <a:ln w="12700">
            <a:solidFill>
              <a:srgbClr val="2952A3"/>
            </a:solidFill>
            <a:prstDash val="dash"/>
          </a:ln>
        </p:spPr>
      </p:sp>
      <p:sp>
        <p:nvSpPr>
          <p:cNvPr id="19" name="Shape 17"/>
          <p:cNvSpPr/>
          <p:nvPr/>
        </p:nvSpPr>
        <p:spPr>
          <a:xfrm>
            <a:off x="822960" y="1508760"/>
            <a:ext cx="1645920" cy="0"/>
          </a:xfrm>
          <a:prstGeom prst="line">
            <a:avLst/>
          </a:prstGeom>
          <a:noFill/>
          <a:ln w="12700">
            <a:solidFill>
              <a:srgbClr val="1E2761"/>
            </a:solidFill>
            <a:prstDash val="solid"/>
          </a:ln>
        </p:spPr>
      </p:sp>
      <p:sp>
        <p:nvSpPr>
          <p:cNvPr id="20" name="Text 18"/>
          <p:cNvSpPr/>
          <p:nvPr/>
        </p:nvSpPr>
        <p:spPr>
          <a:xfrm>
            <a:off x="868680" y="1307592"/>
            <a:ext cx="164592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1. Remplit le formulaire</a:t>
            </a:r>
            <a:endParaRPr lang="en-US" sz="850" dirty="0"/>
          </a:p>
        </p:txBody>
      </p:sp>
      <p:sp>
        <p:nvSpPr>
          <p:cNvPr id="21" name="Shape 19"/>
          <p:cNvSpPr/>
          <p:nvPr/>
        </p:nvSpPr>
        <p:spPr>
          <a:xfrm>
            <a:off x="2468880" y="1828800"/>
            <a:ext cx="1645920" cy="0"/>
          </a:xfrm>
          <a:prstGeom prst="line">
            <a:avLst/>
          </a:prstGeom>
          <a:noFill/>
          <a:ln w="12700">
            <a:solidFill>
              <a:srgbClr val="1E2761"/>
            </a:solidFill>
            <a:prstDash val="solid"/>
          </a:ln>
        </p:spPr>
      </p:sp>
      <p:sp>
        <p:nvSpPr>
          <p:cNvPr id="22" name="Text 20"/>
          <p:cNvSpPr/>
          <p:nvPr/>
        </p:nvSpPr>
        <p:spPr>
          <a:xfrm>
            <a:off x="2514600" y="1627632"/>
            <a:ext cx="164592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2. POST /signup (données)</a:t>
            </a:r>
            <a:endParaRPr lang="en-US" sz="850" dirty="0"/>
          </a:p>
        </p:txBody>
      </p:sp>
      <p:sp>
        <p:nvSpPr>
          <p:cNvPr id="23" name="Shape 21"/>
          <p:cNvSpPr/>
          <p:nvPr/>
        </p:nvSpPr>
        <p:spPr>
          <a:xfrm>
            <a:off x="4114800" y="2148840"/>
            <a:ext cx="457200" cy="0"/>
          </a:xfrm>
          <a:prstGeom prst="line">
            <a:avLst/>
          </a:prstGeom>
          <a:noFill/>
          <a:ln w="12700">
            <a:solidFill>
              <a:srgbClr val="1E2761"/>
            </a:solidFill>
            <a:prstDash val="solid"/>
          </a:ln>
        </p:spPr>
      </p:sp>
      <p:sp>
        <p:nvSpPr>
          <p:cNvPr id="24" name="Shape 22"/>
          <p:cNvSpPr/>
          <p:nvPr/>
        </p:nvSpPr>
        <p:spPr>
          <a:xfrm>
            <a:off x="4572000" y="2148840"/>
            <a:ext cx="0" cy="182880"/>
          </a:xfrm>
          <a:prstGeom prst="line">
            <a:avLst/>
          </a:prstGeom>
          <a:noFill/>
          <a:ln w="12700">
            <a:solidFill>
              <a:srgbClr val="1E2761"/>
            </a:solidFill>
            <a:prstDash val="solid"/>
          </a:ln>
        </p:spPr>
      </p:sp>
      <p:sp>
        <p:nvSpPr>
          <p:cNvPr id="25" name="Shape 23"/>
          <p:cNvSpPr/>
          <p:nvPr/>
        </p:nvSpPr>
        <p:spPr>
          <a:xfrm>
            <a:off x="4114800" y="2331720"/>
            <a:ext cx="457200" cy="0"/>
          </a:xfrm>
          <a:prstGeom prst="line">
            <a:avLst/>
          </a:prstGeom>
          <a:noFill/>
          <a:ln w="12700">
            <a:solidFill>
              <a:srgbClr val="1E2761"/>
            </a:solidFill>
            <a:prstDash val="solid"/>
          </a:ln>
        </p:spPr>
      </p:sp>
      <p:sp>
        <p:nvSpPr>
          <p:cNvPr id="26" name="Text 24"/>
          <p:cNvSpPr/>
          <p:nvPr/>
        </p:nvSpPr>
        <p:spPr>
          <a:xfrm>
            <a:off x="4160520" y="1947672"/>
            <a:ext cx="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3. Validation des données</a:t>
            </a:r>
            <a:endParaRPr lang="en-US" sz="850" dirty="0"/>
          </a:p>
        </p:txBody>
      </p:sp>
      <p:sp>
        <p:nvSpPr>
          <p:cNvPr id="27" name="Shape 25"/>
          <p:cNvSpPr/>
          <p:nvPr/>
        </p:nvSpPr>
        <p:spPr>
          <a:xfrm>
            <a:off x="4114800" y="2468880"/>
            <a:ext cx="1783080" cy="0"/>
          </a:xfrm>
          <a:prstGeom prst="line">
            <a:avLst/>
          </a:prstGeom>
          <a:noFill/>
          <a:ln w="12700">
            <a:solidFill>
              <a:srgbClr val="1E2761"/>
            </a:solidFill>
            <a:prstDash val="solid"/>
          </a:ln>
        </p:spPr>
      </p:sp>
      <p:sp>
        <p:nvSpPr>
          <p:cNvPr id="28" name="Text 26"/>
          <p:cNvSpPr/>
          <p:nvPr/>
        </p:nvSpPr>
        <p:spPr>
          <a:xfrm>
            <a:off x="4160520" y="2267712"/>
            <a:ext cx="178308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4. DB::transaction()</a:t>
            </a:r>
            <a:endParaRPr lang="en-US" sz="850" dirty="0"/>
          </a:p>
        </p:txBody>
      </p:sp>
      <p:sp>
        <p:nvSpPr>
          <p:cNvPr id="29" name="Shape 27"/>
          <p:cNvSpPr/>
          <p:nvPr/>
        </p:nvSpPr>
        <p:spPr>
          <a:xfrm>
            <a:off x="4114800" y="2788920"/>
            <a:ext cx="1783080" cy="0"/>
          </a:xfrm>
          <a:prstGeom prst="line">
            <a:avLst/>
          </a:prstGeom>
          <a:noFill/>
          <a:ln w="12700">
            <a:solidFill>
              <a:srgbClr val="2E7D5B"/>
            </a:solidFill>
            <a:prstDash val="dash"/>
          </a:ln>
        </p:spPr>
      </p:sp>
      <p:sp>
        <p:nvSpPr>
          <p:cNvPr id="30" name="Text 28"/>
          <p:cNvSpPr/>
          <p:nvPr/>
        </p:nvSpPr>
        <p:spPr>
          <a:xfrm>
            <a:off x="4160520" y="2587752"/>
            <a:ext cx="1783080" cy="201168"/>
          </a:xfrm>
          <a:prstGeom prst="rect">
            <a:avLst/>
          </a:prstGeom>
          <a:noFill/>
          <a:ln/>
        </p:spPr>
        <p:txBody>
          <a:bodyPr wrap="square" lIns="0" tIns="0" rIns="0" bIns="0" rtlCol="0" anchor="ctr"/>
          <a:lstStyle/>
          <a:p>
            <a:pPr marL="0" indent="0" algn="ctr">
              <a:buNone/>
            </a:pPr>
            <a:r>
              <a:rPr lang="en-US" sz="850" dirty="0">
                <a:solidFill>
                  <a:srgbClr val="2E7D5B"/>
                </a:solidFill>
                <a:latin typeface="Calibri" pitchFamily="34" charset="0"/>
                <a:ea typeface="Calibri" pitchFamily="34" charset="-122"/>
                <a:cs typeface="Calibri" pitchFamily="34" charset="-120"/>
              </a:rPr>
              <a:t>5. User créé</a:t>
            </a:r>
            <a:endParaRPr lang="en-US" sz="850" dirty="0"/>
          </a:p>
        </p:txBody>
      </p:sp>
      <p:sp>
        <p:nvSpPr>
          <p:cNvPr id="31" name="Shape 29"/>
          <p:cNvSpPr/>
          <p:nvPr/>
        </p:nvSpPr>
        <p:spPr>
          <a:xfrm>
            <a:off x="4114800" y="3108960"/>
            <a:ext cx="1783080" cy="0"/>
          </a:xfrm>
          <a:prstGeom prst="line">
            <a:avLst/>
          </a:prstGeom>
          <a:noFill/>
          <a:ln w="12700">
            <a:solidFill>
              <a:srgbClr val="1E2761"/>
            </a:solidFill>
            <a:prstDash val="solid"/>
          </a:ln>
        </p:spPr>
      </p:sp>
      <p:sp>
        <p:nvSpPr>
          <p:cNvPr id="32" name="Text 30"/>
          <p:cNvSpPr/>
          <p:nvPr/>
        </p:nvSpPr>
        <p:spPr>
          <a:xfrm>
            <a:off x="4160520" y="2907792"/>
            <a:ext cx="178308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6. Créer ClientJob(s)</a:t>
            </a:r>
            <a:endParaRPr lang="en-US" sz="850" dirty="0"/>
          </a:p>
        </p:txBody>
      </p:sp>
      <p:sp>
        <p:nvSpPr>
          <p:cNvPr id="33" name="Shape 31"/>
          <p:cNvSpPr/>
          <p:nvPr/>
        </p:nvSpPr>
        <p:spPr>
          <a:xfrm>
            <a:off x="4114800" y="3429000"/>
            <a:ext cx="1783080" cy="0"/>
          </a:xfrm>
          <a:prstGeom prst="line">
            <a:avLst/>
          </a:prstGeom>
          <a:noFill/>
          <a:ln w="12700">
            <a:solidFill>
              <a:srgbClr val="2E7D5B"/>
            </a:solidFill>
            <a:prstDash val="dash"/>
          </a:ln>
        </p:spPr>
      </p:sp>
      <p:sp>
        <p:nvSpPr>
          <p:cNvPr id="34" name="Text 32"/>
          <p:cNvSpPr/>
          <p:nvPr/>
        </p:nvSpPr>
        <p:spPr>
          <a:xfrm>
            <a:off x="4160520" y="3227832"/>
            <a:ext cx="1783080" cy="201168"/>
          </a:xfrm>
          <a:prstGeom prst="rect">
            <a:avLst/>
          </a:prstGeom>
          <a:noFill/>
          <a:ln/>
        </p:spPr>
        <p:txBody>
          <a:bodyPr wrap="square" lIns="0" tIns="0" rIns="0" bIns="0" rtlCol="0" anchor="ctr"/>
          <a:lstStyle/>
          <a:p>
            <a:pPr marL="0" indent="0" algn="ctr">
              <a:buNone/>
            </a:pPr>
            <a:r>
              <a:rPr lang="en-US" sz="850" dirty="0">
                <a:solidFill>
                  <a:srgbClr val="2E7D5B"/>
                </a:solidFill>
                <a:latin typeface="Calibri" pitchFamily="34" charset="0"/>
                <a:ea typeface="Calibri" pitchFamily="34" charset="-122"/>
                <a:cs typeface="Calibri" pitchFamily="34" charset="-120"/>
              </a:rPr>
              <a:t>7. Confirmation</a:t>
            </a:r>
            <a:endParaRPr lang="en-US" sz="850" dirty="0"/>
          </a:p>
        </p:txBody>
      </p:sp>
      <p:sp>
        <p:nvSpPr>
          <p:cNvPr id="35" name="Shape 33"/>
          <p:cNvSpPr/>
          <p:nvPr/>
        </p:nvSpPr>
        <p:spPr>
          <a:xfrm>
            <a:off x="4114800" y="3749040"/>
            <a:ext cx="3566160" cy="0"/>
          </a:xfrm>
          <a:prstGeom prst="line">
            <a:avLst/>
          </a:prstGeom>
          <a:noFill/>
          <a:ln w="12700">
            <a:solidFill>
              <a:srgbClr val="1E2761"/>
            </a:solidFill>
            <a:prstDash val="solid"/>
          </a:ln>
        </p:spPr>
      </p:sp>
      <p:sp>
        <p:nvSpPr>
          <p:cNvPr id="36" name="Text 34"/>
          <p:cNvSpPr/>
          <p:nvPr/>
        </p:nvSpPr>
        <p:spPr>
          <a:xfrm>
            <a:off x="4160520" y="3547872"/>
            <a:ext cx="356616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8. Auth::login()</a:t>
            </a:r>
            <a:endParaRPr lang="en-US" sz="850" dirty="0"/>
          </a:p>
        </p:txBody>
      </p:sp>
      <p:sp>
        <p:nvSpPr>
          <p:cNvPr id="37" name="Shape 35"/>
          <p:cNvSpPr/>
          <p:nvPr/>
        </p:nvSpPr>
        <p:spPr>
          <a:xfrm>
            <a:off x="2468880" y="4069080"/>
            <a:ext cx="5212080" cy="0"/>
          </a:xfrm>
          <a:prstGeom prst="line">
            <a:avLst/>
          </a:prstGeom>
          <a:noFill/>
          <a:ln w="12700">
            <a:solidFill>
              <a:srgbClr val="1E2761"/>
            </a:solidFill>
            <a:prstDash val="solid"/>
          </a:ln>
        </p:spPr>
      </p:sp>
      <p:sp>
        <p:nvSpPr>
          <p:cNvPr id="38" name="Text 36"/>
          <p:cNvSpPr/>
          <p:nvPr/>
        </p:nvSpPr>
        <p:spPr>
          <a:xfrm>
            <a:off x="2514600" y="3867912"/>
            <a:ext cx="5212080" cy="201168"/>
          </a:xfrm>
          <a:prstGeom prst="rect">
            <a:avLst/>
          </a:prstGeom>
          <a:noFill/>
          <a:ln/>
        </p:spPr>
        <p:txBody>
          <a:bodyPr wrap="square" lIns="0" tIns="0" rIns="0" bIns="0" rtlCol="0" anchor="ctr"/>
          <a:lstStyle/>
          <a:p>
            <a:pPr marL="0" indent="0" algn="ctr">
              <a:buNone/>
            </a:pPr>
            <a:r>
              <a:rPr lang="en-US" sz="850" dirty="0">
                <a:solidFill>
                  <a:srgbClr val="1A1F3C"/>
                </a:solidFill>
                <a:latin typeface="Calibri" pitchFamily="34" charset="0"/>
                <a:ea typeface="Calibri" pitchFamily="34" charset="-122"/>
                <a:cs typeface="Calibri" pitchFamily="34" charset="-120"/>
              </a:rPr>
              <a:t>9. Redirection /home</a:t>
            </a:r>
            <a:endParaRPr lang="en-US" sz="850" dirty="0"/>
          </a:p>
        </p:txBody>
      </p:sp>
      <p:sp>
        <p:nvSpPr>
          <p:cNvPr id="39" name="Shape 37"/>
          <p:cNvSpPr/>
          <p:nvPr/>
        </p:nvSpPr>
        <p:spPr>
          <a:xfrm>
            <a:off x="182880" y="4617720"/>
            <a:ext cx="8778240" cy="365760"/>
          </a:xfrm>
          <a:prstGeom prst="roundRect">
            <a:avLst>
              <a:gd name="adj" fmla="val 15000"/>
            </a:avLst>
          </a:prstGeom>
          <a:solidFill>
            <a:srgbClr val="2E7D5B"/>
          </a:solidFill>
          <a:ln w="12700">
            <a:solidFill>
              <a:srgbClr val="2E7D5B"/>
            </a:solidFill>
            <a:prstDash val="solid"/>
          </a:ln>
        </p:spPr>
      </p:sp>
      <p:sp>
        <p:nvSpPr>
          <p:cNvPr id="40" name="Text 38"/>
          <p:cNvSpPr/>
          <p:nvPr/>
        </p:nvSpPr>
        <p:spPr>
          <a:xfrm>
            <a:off x="274320" y="4617720"/>
            <a:ext cx="85953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Résultat : le travailleur est connecté et visible dans la liste des prestataires avec ses métiers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03 — Planification du projet</a:t>
            </a:r>
            <a:endParaRPr lang="en-US" sz="2600" dirty="0"/>
          </a:p>
        </p:txBody>
      </p:sp>
      <p:sp>
        <p:nvSpPr>
          <p:cNvPr id="4" name="Shape 2"/>
          <p:cNvSpPr/>
          <p:nvPr/>
        </p:nvSpPr>
        <p:spPr>
          <a:xfrm>
            <a:off x="274320" y="1005840"/>
            <a:ext cx="2560320" cy="347472"/>
          </a:xfrm>
          <a:prstGeom prst="rect">
            <a:avLst/>
          </a:prstGeom>
          <a:solidFill>
            <a:srgbClr val="E8EEF7"/>
          </a:solidFill>
          <a:ln w="12700">
            <a:solidFill>
              <a:srgbClr val="E8EEF7"/>
            </a:solidFill>
            <a:prstDash val="solid"/>
          </a:ln>
        </p:spPr>
      </p:sp>
      <p:sp>
        <p:nvSpPr>
          <p:cNvPr id="5" name="Text 3"/>
          <p:cNvSpPr/>
          <p:nvPr/>
        </p:nvSpPr>
        <p:spPr>
          <a:xfrm>
            <a:off x="274320" y="1005840"/>
            <a:ext cx="256032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Tâche</a:t>
            </a:r>
            <a:endParaRPr lang="en-US" sz="1100" dirty="0"/>
          </a:p>
        </p:txBody>
      </p:sp>
      <p:sp>
        <p:nvSpPr>
          <p:cNvPr id="6" name="Shape 4"/>
          <p:cNvSpPr/>
          <p:nvPr/>
        </p:nvSpPr>
        <p:spPr>
          <a:xfrm>
            <a:off x="2926080" y="1005840"/>
            <a:ext cx="914400" cy="347472"/>
          </a:xfrm>
          <a:prstGeom prst="rect">
            <a:avLst/>
          </a:prstGeom>
          <a:solidFill>
            <a:srgbClr val="E8EEF7"/>
          </a:solidFill>
          <a:ln w="12700">
            <a:solidFill>
              <a:srgbClr val="E8EEF7"/>
            </a:solidFill>
            <a:prstDash val="solid"/>
          </a:ln>
        </p:spPr>
      </p:sp>
      <p:sp>
        <p:nvSpPr>
          <p:cNvPr id="7" name="Text 5"/>
          <p:cNvSpPr/>
          <p:nvPr/>
        </p:nvSpPr>
        <p:spPr>
          <a:xfrm>
            <a:off x="2926080"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S1</a:t>
            </a:r>
            <a:endParaRPr lang="en-US" sz="1100" dirty="0"/>
          </a:p>
        </p:txBody>
      </p:sp>
      <p:sp>
        <p:nvSpPr>
          <p:cNvPr id="8" name="Shape 6"/>
          <p:cNvSpPr/>
          <p:nvPr/>
        </p:nvSpPr>
        <p:spPr>
          <a:xfrm>
            <a:off x="3913632" y="1005840"/>
            <a:ext cx="914400" cy="347472"/>
          </a:xfrm>
          <a:prstGeom prst="rect">
            <a:avLst/>
          </a:prstGeom>
          <a:solidFill>
            <a:srgbClr val="E8EEF7"/>
          </a:solidFill>
          <a:ln w="12700">
            <a:solidFill>
              <a:srgbClr val="E8EEF7"/>
            </a:solidFill>
            <a:prstDash val="solid"/>
          </a:ln>
        </p:spPr>
      </p:sp>
      <p:sp>
        <p:nvSpPr>
          <p:cNvPr id="9" name="Text 7"/>
          <p:cNvSpPr/>
          <p:nvPr/>
        </p:nvSpPr>
        <p:spPr>
          <a:xfrm>
            <a:off x="3913632"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S2</a:t>
            </a:r>
            <a:endParaRPr lang="en-US" sz="1100" dirty="0"/>
          </a:p>
        </p:txBody>
      </p:sp>
      <p:sp>
        <p:nvSpPr>
          <p:cNvPr id="10" name="Shape 8"/>
          <p:cNvSpPr/>
          <p:nvPr/>
        </p:nvSpPr>
        <p:spPr>
          <a:xfrm>
            <a:off x="4901184" y="1005840"/>
            <a:ext cx="914400" cy="347472"/>
          </a:xfrm>
          <a:prstGeom prst="rect">
            <a:avLst/>
          </a:prstGeom>
          <a:solidFill>
            <a:srgbClr val="E8EEF7"/>
          </a:solidFill>
          <a:ln w="12700">
            <a:solidFill>
              <a:srgbClr val="E8EEF7"/>
            </a:solidFill>
            <a:prstDash val="solid"/>
          </a:ln>
        </p:spPr>
      </p:sp>
      <p:sp>
        <p:nvSpPr>
          <p:cNvPr id="11" name="Text 9"/>
          <p:cNvSpPr/>
          <p:nvPr/>
        </p:nvSpPr>
        <p:spPr>
          <a:xfrm>
            <a:off x="4901184"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S3</a:t>
            </a:r>
            <a:endParaRPr lang="en-US" sz="1100" dirty="0"/>
          </a:p>
        </p:txBody>
      </p:sp>
      <p:sp>
        <p:nvSpPr>
          <p:cNvPr id="12" name="Shape 10"/>
          <p:cNvSpPr/>
          <p:nvPr/>
        </p:nvSpPr>
        <p:spPr>
          <a:xfrm>
            <a:off x="5888736" y="1005840"/>
            <a:ext cx="914400" cy="347472"/>
          </a:xfrm>
          <a:prstGeom prst="rect">
            <a:avLst/>
          </a:prstGeom>
          <a:solidFill>
            <a:srgbClr val="E8EEF7"/>
          </a:solidFill>
          <a:ln w="12700">
            <a:solidFill>
              <a:srgbClr val="E8EEF7"/>
            </a:solidFill>
            <a:prstDash val="solid"/>
          </a:ln>
        </p:spPr>
      </p:sp>
      <p:sp>
        <p:nvSpPr>
          <p:cNvPr id="13" name="Text 11"/>
          <p:cNvSpPr/>
          <p:nvPr/>
        </p:nvSpPr>
        <p:spPr>
          <a:xfrm>
            <a:off x="5888736"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S4</a:t>
            </a:r>
            <a:endParaRPr lang="en-US" sz="1100" dirty="0"/>
          </a:p>
        </p:txBody>
      </p:sp>
      <p:sp>
        <p:nvSpPr>
          <p:cNvPr id="14" name="Shape 12"/>
          <p:cNvSpPr/>
          <p:nvPr/>
        </p:nvSpPr>
        <p:spPr>
          <a:xfrm>
            <a:off x="6876288" y="1005840"/>
            <a:ext cx="914400" cy="347472"/>
          </a:xfrm>
          <a:prstGeom prst="rect">
            <a:avLst/>
          </a:prstGeom>
          <a:solidFill>
            <a:srgbClr val="E8EEF7"/>
          </a:solidFill>
          <a:ln w="12700">
            <a:solidFill>
              <a:srgbClr val="E8EEF7"/>
            </a:solidFill>
            <a:prstDash val="solid"/>
          </a:ln>
        </p:spPr>
      </p:sp>
      <p:sp>
        <p:nvSpPr>
          <p:cNvPr id="15" name="Text 13"/>
          <p:cNvSpPr/>
          <p:nvPr/>
        </p:nvSpPr>
        <p:spPr>
          <a:xfrm>
            <a:off x="6876288"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S5</a:t>
            </a:r>
            <a:endParaRPr lang="en-US" sz="1100" dirty="0"/>
          </a:p>
        </p:txBody>
      </p:sp>
      <p:sp>
        <p:nvSpPr>
          <p:cNvPr id="16" name="Shape 14"/>
          <p:cNvSpPr/>
          <p:nvPr/>
        </p:nvSpPr>
        <p:spPr>
          <a:xfrm>
            <a:off x="7863840" y="1005840"/>
            <a:ext cx="914400" cy="347472"/>
          </a:xfrm>
          <a:prstGeom prst="rect">
            <a:avLst/>
          </a:prstGeom>
          <a:solidFill>
            <a:srgbClr val="E8EEF7"/>
          </a:solidFill>
          <a:ln w="12700">
            <a:solidFill>
              <a:srgbClr val="E8EEF7"/>
            </a:solidFill>
            <a:prstDash val="solid"/>
          </a:ln>
        </p:spPr>
      </p:sp>
      <p:sp>
        <p:nvSpPr>
          <p:cNvPr id="17" name="Text 15"/>
          <p:cNvSpPr/>
          <p:nvPr/>
        </p:nvSpPr>
        <p:spPr>
          <a:xfrm>
            <a:off x="7863840" y="1005840"/>
            <a:ext cx="914400" cy="347472"/>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S6</a:t>
            </a:r>
            <a:endParaRPr lang="en-US" sz="1100" dirty="0"/>
          </a:p>
        </p:txBody>
      </p:sp>
      <p:sp>
        <p:nvSpPr>
          <p:cNvPr id="18" name="Shape 16"/>
          <p:cNvSpPr/>
          <p:nvPr/>
        </p:nvSpPr>
        <p:spPr>
          <a:xfrm>
            <a:off x="274320" y="1417320"/>
            <a:ext cx="2560320" cy="411480"/>
          </a:xfrm>
          <a:prstGeom prst="rect">
            <a:avLst/>
          </a:prstGeom>
          <a:solidFill>
            <a:srgbClr val="FFFFFF"/>
          </a:solidFill>
          <a:ln w="12700">
            <a:solidFill>
              <a:srgbClr val="E8EEF7"/>
            </a:solidFill>
            <a:prstDash val="solid"/>
          </a:ln>
        </p:spPr>
      </p:sp>
      <p:sp>
        <p:nvSpPr>
          <p:cNvPr id="19" name="Text 17"/>
          <p:cNvSpPr/>
          <p:nvPr/>
        </p:nvSpPr>
        <p:spPr>
          <a:xfrm>
            <a:off x="320040" y="1417320"/>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Analyse des besoins</a:t>
            </a:r>
            <a:endParaRPr lang="en-US" sz="1050" dirty="0"/>
          </a:p>
        </p:txBody>
      </p:sp>
      <p:sp>
        <p:nvSpPr>
          <p:cNvPr id="20" name="Shape 18"/>
          <p:cNvSpPr/>
          <p:nvPr/>
        </p:nvSpPr>
        <p:spPr>
          <a:xfrm>
            <a:off x="2926080" y="1417320"/>
            <a:ext cx="914400" cy="411480"/>
          </a:xfrm>
          <a:prstGeom prst="rect">
            <a:avLst/>
          </a:prstGeom>
          <a:solidFill>
            <a:srgbClr val="FFFFFF"/>
          </a:solidFill>
          <a:ln w="12700">
            <a:solidFill>
              <a:srgbClr val="E8EEF7"/>
            </a:solidFill>
            <a:prstDash val="solid"/>
          </a:ln>
        </p:spPr>
      </p:sp>
      <p:sp>
        <p:nvSpPr>
          <p:cNvPr id="21" name="Shape 19"/>
          <p:cNvSpPr/>
          <p:nvPr/>
        </p:nvSpPr>
        <p:spPr>
          <a:xfrm>
            <a:off x="2999232" y="1490472"/>
            <a:ext cx="768096" cy="265176"/>
          </a:xfrm>
          <a:prstGeom prst="roundRect">
            <a:avLst>
              <a:gd name="adj" fmla="val 20690"/>
            </a:avLst>
          </a:prstGeom>
          <a:solidFill>
            <a:srgbClr val="F5A623"/>
          </a:solidFill>
          <a:ln w="12700">
            <a:solidFill>
              <a:srgbClr val="F5A623"/>
            </a:solidFill>
            <a:prstDash val="solid"/>
          </a:ln>
        </p:spPr>
      </p:sp>
      <p:sp>
        <p:nvSpPr>
          <p:cNvPr id="22" name="Shape 20"/>
          <p:cNvSpPr/>
          <p:nvPr/>
        </p:nvSpPr>
        <p:spPr>
          <a:xfrm>
            <a:off x="3913632" y="1417320"/>
            <a:ext cx="914400" cy="411480"/>
          </a:xfrm>
          <a:prstGeom prst="rect">
            <a:avLst/>
          </a:prstGeom>
          <a:solidFill>
            <a:srgbClr val="FFFFFF"/>
          </a:solidFill>
          <a:ln w="12700">
            <a:solidFill>
              <a:srgbClr val="E8EEF7"/>
            </a:solidFill>
            <a:prstDash val="solid"/>
          </a:ln>
        </p:spPr>
      </p:sp>
      <p:sp>
        <p:nvSpPr>
          <p:cNvPr id="23" name="Shape 21"/>
          <p:cNvSpPr/>
          <p:nvPr/>
        </p:nvSpPr>
        <p:spPr>
          <a:xfrm>
            <a:off x="3986784" y="1490472"/>
            <a:ext cx="768096" cy="265176"/>
          </a:xfrm>
          <a:prstGeom prst="roundRect">
            <a:avLst>
              <a:gd name="adj" fmla="val 20690"/>
            </a:avLst>
          </a:prstGeom>
          <a:solidFill>
            <a:srgbClr val="F5A623"/>
          </a:solidFill>
          <a:ln w="12700">
            <a:solidFill>
              <a:srgbClr val="F5A623"/>
            </a:solidFill>
            <a:prstDash val="solid"/>
          </a:ln>
        </p:spPr>
      </p:sp>
      <p:sp>
        <p:nvSpPr>
          <p:cNvPr id="24" name="Shape 22"/>
          <p:cNvSpPr/>
          <p:nvPr/>
        </p:nvSpPr>
        <p:spPr>
          <a:xfrm>
            <a:off x="4901184" y="1417320"/>
            <a:ext cx="914400" cy="411480"/>
          </a:xfrm>
          <a:prstGeom prst="rect">
            <a:avLst/>
          </a:prstGeom>
          <a:solidFill>
            <a:srgbClr val="FFFFFF"/>
          </a:solidFill>
          <a:ln w="12700">
            <a:solidFill>
              <a:srgbClr val="E8EEF7"/>
            </a:solidFill>
            <a:prstDash val="solid"/>
          </a:ln>
        </p:spPr>
      </p:sp>
      <p:sp>
        <p:nvSpPr>
          <p:cNvPr id="25" name="Shape 23"/>
          <p:cNvSpPr/>
          <p:nvPr/>
        </p:nvSpPr>
        <p:spPr>
          <a:xfrm>
            <a:off x="5888736" y="1417320"/>
            <a:ext cx="914400" cy="411480"/>
          </a:xfrm>
          <a:prstGeom prst="rect">
            <a:avLst/>
          </a:prstGeom>
          <a:solidFill>
            <a:srgbClr val="FFFFFF"/>
          </a:solidFill>
          <a:ln w="12700">
            <a:solidFill>
              <a:srgbClr val="E8EEF7"/>
            </a:solidFill>
            <a:prstDash val="solid"/>
          </a:ln>
        </p:spPr>
      </p:sp>
      <p:sp>
        <p:nvSpPr>
          <p:cNvPr id="26" name="Shape 24"/>
          <p:cNvSpPr/>
          <p:nvPr/>
        </p:nvSpPr>
        <p:spPr>
          <a:xfrm>
            <a:off x="6876288" y="1417320"/>
            <a:ext cx="914400" cy="411480"/>
          </a:xfrm>
          <a:prstGeom prst="rect">
            <a:avLst/>
          </a:prstGeom>
          <a:solidFill>
            <a:srgbClr val="FFFFFF"/>
          </a:solidFill>
          <a:ln w="12700">
            <a:solidFill>
              <a:srgbClr val="E8EEF7"/>
            </a:solidFill>
            <a:prstDash val="solid"/>
          </a:ln>
        </p:spPr>
      </p:sp>
      <p:sp>
        <p:nvSpPr>
          <p:cNvPr id="27" name="Shape 25"/>
          <p:cNvSpPr/>
          <p:nvPr/>
        </p:nvSpPr>
        <p:spPr>
          <a:xfrm>
            <a:off x="7863840" y="1417320"/>
            <a:ext cx="914400" cy="411480"/>
          </a:xfrm>
          <a:prstGeom prst="rect">
            <a:avLst/>
          </a:prstGeom>
          <a:solidFill>
            <a:srgbClr val="FFFFFF"/>
          </a:solidFill>
          <a:ln w="12700">
            <a:solidFill>
              <a:srgbClr val="E8EEF7"/>
            </a:solidFill>
            <a:prstDash val="solid"/>
          </a:ln>
        </p:spPr>
      </p:sp>
      <p:sp>
        <p:nvSpPr>
          <p:cNvPr id="28" name="Shape 26"/>
          <p:cNvSpPr/>
          <p:nvPr/>
        </p:nvSpPr>
        <p:spPr>
          <a:xfrm>
            <a:off x="274320" y="1938528"/>
            <a:ext cx="2560320" cy="411480"/>
          </a:xfrm>
          <a:prstGeom prst="rect">
            <a:avLst/>
          </a:prstGeom>
          <a:solidFill>
            <a:srgbClr val="F4F6FB"/>
          </a:solidFill>
          <a:ln w="12700">
            <a:solidFill>
              <a:srgbClr val="E8EEF7"/>
            </a:solidFill>
            <a:prstDash val="solid"/>
          </a:ln>
        </p:spPr>
      </p:sp>
      <p:sp>
        <p:nvSpPr>
          <p:cNvPr id="29" name="Text 27"/>
          <p:cNvSpPr/>
          <p:nvPr/>
        </p:nvSpPr>
        <p:spPr>
          <a:xfrm>
            <a:off x="320040" y="1938528"/>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Conception UML</a:t>
            </a:r>
            <a:endParaRPr lang="en-US" sz="1050" dirty="0"/>
          </a:p>
        </p:txBody>
      </p:sp>
      <p:sp>
        <p:nvSpPr>
          <p:cNvPr id="30" name="Shape 28"/>
          <p:cNvSpPr/>
          <p:nvPr/>
        </p:nvSpPr>
        <p:spPr>
          <a:xfrm>
            <a:off x="2926080" y="1938528"/>
            <a:ext cx="914400" cy="411480"/>
          </a:xfrm>
          <a:prstGeom prst="rect">
            <a:avLst/>
          </a:prstGeom>
          <a:solidFill>
            <a:srgbClr val="F4F6FB"/>
          </a:solidFill>
          <a:ln w="12700">
            <a:solidFill>
              <a:srgbClr val="E8EEF7"/>
            </a:solidFill>
            <a:prstDash val="solid"/>
          </a:ln>
        </p:spPr>
      </p:sp>
      <p:sp>
        <p:nvSpPr>
          <p:cNvPr id="31" name="Shape 29"/>
          <p:cNvSpPr/>
          <p:nvPr/>
        </p:nvSpPr>
        <p:spPr>
          <a:xfrm>
            <a:off x="3913632" y="1938528"/>
            <a:ext cx="914400" cy="411480"/>
          </a:xfrm>
          <a:prstGeom prst="rect">
            <a:avLst/>
          </a:prstGeom>
          <a:solidFill>
            <a:srgbClr val="F4F6FB"/>
          </a:solidFill>
          <a:ln w="12700">
            <a:solidFill>
              <a:srgbClr val="E8EEF7"/>
            </a:solidFill>
            <a:prstDash val="solid"/>
          </a:ln>
        </p:spPr>
      </p:sp>
      <p:sp>
        <p:nvSpPr>
          <p:cNvPr id="32" name="Shape 30"/>
          <p:cNvSpPr/>
          <p:nvPr/>
        </p:nvSpPr>
        <p:spPr>
          <a:xfrm>
            <a:off x="3986784" y="2011680"/>
            <a:ext cx="768096" cy="265176"/>
          </a:xfrm>
          <a:prstGeom prst="roundRect">
            <a:avLst>
              <a:gd name="adj" fmla="val 20690"/>
            </a:avLst>
          </a:prstGeom>
          <a:solidFill>
            <a:srgbClr val="F5A623"/>
          </a:solidFill>
          <a:ln w="12700">
            <a:solidFill>
              <a:srgbClr val="F5A623"/>
            </a:solidFill>
            <a:prstDash val="solid"/>
          </a:ln>
        </p:spPr>
      </p:sp>
      <p:sp>
        <p:nvSpPr>
          <p:cNvPr id="33" name="Shape 31"/>
          <p:cNvSpPr/>
          <p:nvPr/>
        </p:nvSpPr>
        <p:spPr>
          <a:xfrm>
            <a:off x="4901184" y="1938528"/>
            <a:ext cx="914400" cy="411480"/>
          </a:xfrm>
          <a:prstGeom prst="rect">
            <a:avLst/>
          </a:prstGeom>
          <a:solidFill>
            <a:srgbClr val="F4F6FB"/>
          </a:solidFill>
          <a:ln w="12700">
            <a:solidFill>
              <a:srgbClr val="E8EEF7"/>
            </a:solidFill>
            <a:prstDash val="solid"/>
          </a:ln>
        </p:spPr>
      </p:sp>
      <p:sp>
        <p:nvSpPr>
          <p:cNvPr id="34" name="Shape 32"/>
          <p:cNvSpPr/>
          <p:nvPr/>
        </p:nvSpPr>
        <p:spPr>
          <a:xfrm>
            <a:off x="4974336" y="2011680"/>
            <a:ext cx="768096" cy="265176"/>
          </a:xfrm>
          <a:prstGeom prst="roundRect">
            <a:avLst>
              <a:gd name="adj" fmla="val 20690"/>
            </a:avLst>
          </a:prstGeom>
          <a:solidFill>
            <a:srgbClr val="F5A623"/>
          </a:solidFill>
          <a:ln w="12700">
            <a:solidFill>
              <a:srgbClr val="F5A623"/>
            </a:solidFill>
            <a:prstDash val="solid"/>
          </a:ln>
        </p:spPr>
      </p:sp>
      <p:sp>
        <p:nvSpPr>
          <p:cNvPr id="35" name="Shape 33"/>
          <p:cNvSpPr/>
          <p:nvPr/>
        </p:nvSpPr>
        <p:spPr>
          <a:xfrm>
            <a:off x="5888736" y="1938528"/>
            <a:ext cx="914400" cy="411480"/>
          </a:xfrm>
          <a:prstGeom prst="rect">
            <a:avLst/>
          </a:prstGeom>
          <a:solidFill>
            <a:srgbClr val="F4F6FB"/>
          </a:solidFill>
          <a:ln w="12700">
            <a:solidFill>
              <a:srgbClr val="E8EEF7"/>
            </a:solidFill>
            <a:prstDash val="solid"/>
          </a:ln>
        </p:spPr>
      </p:sp>
      <p:sp>
        <p:nvSpPr>
          <p:cNvPr id="36" name="Shape 34"/>
          <p:cNvSpPr/>
          <p:nvPr/>
        </p:nvSpPr>
        <p:spPr>
          <a:xfrm>
            <a:off x="6876288" y="1938528"/>
            <a:ext cx="914400" cy="411480"/>
          </a:xfrm>
          <a:prstGeom prst="rect">
            <a:avLst/>
          </a:prstGeom>
          <a:solidFill>
            <a:srgbClr val="F4F6FB"/>
          </a:solidFill>
          <a:ln w="12700">
            <a:solidFill>
              <a:srgbClr val="E8EEF7"/>
            </a:solidFill>
            <a:prstDash val="solid"/>
          </a:ln>
        </p:spPr>
      </p:sp>
      <p:sp>
        <p:nvSpPr>
          <p:cNvPr id="37" name="Shape 35"/>
          <p:cNvSpPr/>
          <p:nvPr/>
        </p:nvSpPr>
        <p:spPr>
          <a:xfrm>
            <a:off x="7863840" y="1938528"/>
            <a:ext cx="914400" cy="411480"/>
          </a:xfrm>
          <a:prstGeom prst="rect">
            <a:avLst/>
          </a:prstGeom>
          <a:solidFill>
            <a:srgbClr val="F4F6FB"/>
          </a:solidFill>
          <a:ln w="12700">
            <a:solidFill>
              <a:srgbClr val="E8EEF7"/>
            </a:solidFill>
            <a:prstDash val="solid"/>
          </a:ln>
        </p:spPr>
      </p:sp>
      <p:sp>
        <p:nvSpPr>
          <p:cNvPr id="38" name="Shape 36"/>
          <p:cNvSpPr/>
          <p:nvPr/>
        </p:nvSpPr>
        <p:spPr>
          <a:xfrm>
            <a:off x="274320" y="2459736"/>
            <a:ext cx="2560320" cy="411480"/>
          </a:xfrm>
          <a:prstGeom prst="rect">
            <a:avLst/>
          </a:prstGeom>
          <a:solidFill>
            <a:srgbClr val="FFFFFF"/>
          </a:solidFill>
          <a:ln w="12700">
            <a:solidFill>
              <a:srgbClr val="E8EEF7"/>
            </a:solidFill>
            <a:prstDash val="solid"/>
          </a:ln>
        </p:spPr>
      </p:sp>
      <p:sp>
        <p:nvSpPr>
          <p:cNvPr id="39" name="Text 37"/>
          <p:cNvSpPr/>
          <p:nvPr/>
        </p:nvSpPr>
        <p:spPr>
          <a:xfrm>
            <a:off x="320040" y="2459736"/>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Préparation base de données</a:t>
            </a:r>
            <a:endParaRPr lang="en-US" sz="1050" dirty="0"/>
          </a:p>
        </p:txBody>
      </p:sp>
      <p:sp>
        <p:nvSpPr>
          <p:cNvPr id="40" name="Shape 38"/>
          <p:cNvSpPr/>
          <p:nvPr/>
        </p:nvSpPr>
        <p:spPr>
          <a:xfrm>
            <a:off x="2926080" y="2459736"/>
            <a:ext cx="914400" cy="411480"/>
          </a:xfrm>
          <a:prstGeom prst="rect">
            <a:avLst/>
          </a:prstGeom>
          <a:solidFill>
            <a:srgbClr val="FFFFFF"/>
          </a:solidFill>
          <a:ln w="12700">
            <a:solidFill>
              <a:srgbClr val="E8EEF7"/>
            </a:solidFill>
            <a:prstDash val="solid"/>
          </a:ln>
        </p:spPr>
      </p:sp>
      <p:sp>
        <p:nvSpPr>
          <p:cNvPr id="41" name="Shape 39"/>
          <p:cNvSpPr/>
          <p:nvPr/>
        </p:nvSpPr>
        <p:spPr>
          <a:xfrm>
            <a:off x="3913632" y="2459736"/>
            <a:ext cx="914400" cy="411480"/>
          </a:xfrm>
          <a:prstGeom prst="rect">
            <a:avLst/>
          </a:prstGeom>
          <a:solidFill>
            <a:srgbClr val="FFFFFF"/>
          </a:solidFill>
          <a:ln w="12700">
            <a:solidFill>
              <a:srgbClr val="E8EEF7"/>
            </a:solidFill>
            <a:prstDash val="solid"/>
          </a:ln>
        </p:spPr>
      </p:sp>
      <p:sp>
        <p:nvSpPr>
          <p:cNvPr id="42" name="Shape 40"/>
          <p:cNvSpPr/>
          <p:nvPr/>
        </p:nvSpPr>
        <p:spPr>
          <a:xfrm>
            <a:off x="4901184" y="2459736"/>
            <a:ext cx="914400" cy="411480"/>
          </a:xfrm>
          <a:prstGeom prst="rect">
            <a:avLst/>
          </a:prstGeom>
          <a:solidFill>
            <a:srgbClr val="FFFFFF"/>
          </a:solidFill>
          <a:ln w="12700">
            <a:solidFill>
              <a:srgbClr val="E8EEF7"/>
            </a:solidFill>
            <a:prstDash val="solid"/>
          </a:ln>
        </p:spPr>
      </p:sp>
      <p:sp>
        <p:nvSpPr>
          <p:cNvPr id="43" name="Shape 41"/>
          <p:cNvSpPr/>
          <p:nvPr/>
        </p:nvSpPr>
        <p:spPr>
          <a:xfrm>
            <a:off x="4974336" y="2532888"/>
            <a:ext cx="768096" cy="265176"/>
          </a:xfrm>
          <a:prstGeom prst="roundRect">
            <a:avLst>
              <a:gd name="adj" fmla="val 20690"/>
            </a:avLst>
          </a:prstGeom>
          <a:solidFill>
            <a:srgbClr val="F5A623"/>
          </a:solidFill>
          <a:ln w="12700">
            <a:solidFill>
              <a:srgbClr val="F5A623"/>
            </a:solidFill>
            <a:prstDash val="solid"/>
          </a:ln>
        </p:spPr>
      </p:sp>
      <p:sp>
        <p:nvSpPr>
          <p:cNvPr id="44" name="Shape 42"/>
          <p:cNvSpPr/>
          <p:nvPr/>
        </p:nvSpPr>
        <p:spPr>
          <a:xfrm>
            <a:off x="5888736" y="2459736"/>
            <a:ext cx="914400" cy="411480"/>
          </a:xfrm>
          <a:prstGeom prst="rect">
            <a:avLst/>
          </a:prstGeom>
          <a:solidFill>
            <a:srgbClr val="FFFFFF"/>
          </a:solidFill>
          <a:ln w="12700">
            <a:solidFill>
              <a:srgbClr val="E8EEF7"/>
            </a:solidFill>
            <a:prstDash val="solid"/>
          </a:ln>
        </p:spPr>
      </p:sp>
      <p:sp>
        <p:nvSpPr>
          <p:cNvPr id="45" name="Shape 43"/>
          <p:cNvSpPr/>
          <p:nvPr/>
        </p:nvSpPr>
        <p:spPr>
          <a:xfrm>
            <a:off x="5961888" y="2532888"/>
            <a:ext cx="768096" cy="265176"/>
          </a:xfrm>
          <a:prstGeom prst="roundRect">
            <a:avLst>
              <a:gd name="adj" fmla="val 20690"/>
            </a:avLst>
          </a:prstGeom>
          <a:solidFill>
            <a:srgbClr val="F5A623"/>
          </a:solidFill>
          <a:ln w="12700">
            <a:solidFill>
              <a:srgbClr val="F5A623"/>
            </a:solidFill>
            <a:prstDash val="solid"/>
          </a:ln>
        </p:spPr>
      </p:sp>
      <p:sp>
        <p:nvSpPr>
          <p:cNvPr id="46" name="Shape 44"/>
          <p:cNvSpPr/>
          <p:nvPr/>
        </p:nvSpPr>
        <p:spPr>
          <a:xfrm>
            <a:off x="6876288" y="2459736"/>
            <a:ext cx="914400" cy="411480"/>
          </a:xfrm>
          <a:prstGeom prst="rect">
            <a:avLst/>
          </a:prstGeom>
          <a:solidFill>
            <a:srgbClr val="FFFFFF"/>
          </a:solidFill>
          <a:ln w="12700">
            <a:solidFill>
              <a:srgbClr val="E8EEF7"/>
            </a:solidFill>
            <a:prstDash val="solid"/>
          </a:ln>
        </p:spPr>
      </p:sp>
      <p:sp>
        <p:nvSpPr>
          <p:cNvPr id="47" name="Shape 45"/>
          <p:cNvSpPr/>
          <p:nvPr/>
        </p:nvSpPr>
        <p:spPr>
          <a:xfrm>
            <a:off x="7863840" y="2459736"/>
            <a:ext cx="914400" cy="411480"/>
          </a:xfrm>
          <a:prstGeom prst="rect">
            <a:avLst/>
          </a:prstGeom>
          <a:solidFill>
            <a:srgbClr val="FFFFFF"/>
          </a:solidFill>
          <a:ln w="12700">
            <a:solidFill>
              <a:srgbClr val="E8EEF7"/>
            </a:solidFill>
            <a:prstDash val="solid"/>
          </a:ln>
        </p:spPr>
      </p:sp>
      <p:sp>
        <p:nvSpPr>
          <p:cNvPr id="48" name="Shape 46"/>
          <p:cNvSpPr/>
          <p:nvPr/>
        </p:nvSpPr>
        <p:spPr>
          <a:xfrm>
            <a:off x="274320" y="2980944"/>
            <a:ext cx="2560320" cy="411480"/>
          </a:xfrm>
          <a:prstGeom prst="rect">
            <a:avLst/>
          </a:prstGeom>
          <a:solidFill>
            <a:srgbClr val="F4F6FB"/>
          </a:solidFill>
          <a:ln w="12700">
            <a:solidFill>
              <a:srgbClr val="E8EEF7"/>
            </a:solidFill>
            <a:prstDash val="solid"/>
          </a:ln>
        </p:spPr>
      </p:sp>
      <p:sp>
        <p:nvSpPr>
          <p:cNvPr id="49" name="Text 47"/>
          <p:cNvSpPr/>
          <p:nvPr/>
        </p:nvSpPr>
        <p:spPr>
          <a:xfrm>
            <a:off x="320040" y="2980944"/>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Développement Laravel</a:t>
            </a:r>
            <a:endParaRPr lang="en-US" sz="1050" dirty="0"/>
          </a:p>
        </p:txBody>
      </p:sp>
      <p:sp>
        <p:nvSpPr>
          <p:cNvPr id="50" name="Shape 48"/>
          <p:cNvSpPr/>
          <p:nvPr/>
        </p:nvSpPr>
        <p:spPr>
          <a:xfrm>
            <a:off x="2926080" y="2980944"/>
            <a:ext cx="914400" cy="411480"/>
          </a:xfrm>
          <a:prstGeom prst="rect">
            <a:avLst/>
          </a:prstGeom>
          <a:solidFill>
            <a:srgbClr val="F4F6FB"/>
          </a:solidFill>
          <a:ln w="12700">
            <a:solidFill>
              <a:srgbClr val="E8EEF7"/>
            </a:solidFill>
            <a:prstDash val="solid"/>
          </a:ln>
        </p:spPr>
      </p:sp>
      <p:sp>
        <p:nvSpPr>
          <p:cNvPr id="51" name="Shape 49"/>
          <p:cNvSpPr/>
          <p:nvPr/>
        </p:nvSpPr>
        <p:spPr>
          <a:xfrm>
            <a:off x="3913632" y="2980944"/>
            <a:ext cx="914400" cy="411480"/>
          </a:xfrm>
          <a:prstGeom prst="rect">
            <a:avLst/>
          </a:prstGeom>
          <a:solidFill>
            <a:srgbClr val="F4F6FB"/>
          </a:solidFill>
          <a:ln w="12700">
            <a:solidFill>
              <a:srgbClr val="E8EEF7"/>
            </a:solidFill>
            <a:prstDash val="solid"/>
          </a:ln>
        </p:spPr>
      </p:sp>
      <p:sp>
        <p:nvSpPr>
          <p:cNvPr id="52" name="Shape 50"/>
          <p:cNvSpPr/>
          <p:nvPr/>
        </p:nvSpPr>
        <p:spPr>
          <a:xfrm>
            <a:off x="4901184" y="2980944"/>
            <a:ext cx="914400" cy="411480"/>
          </a:xfrm>
          <a:prstGeom prst="rect">
            <a:avLst/>
          </a:prstGeom>
          <a:solidFill>
            <a:srgbClr val="F4F6FB"/>
          </a:solidFill>
          <a:ln w="12700">
            <a:solidFill>
              <a:srgbClr val="E8EEF7"/>
            </a:solidFill>
            <a:prstDash val="solid"/>
          </a:ln>
        </p:spPr>
      </p:sp>
      <p:sp>
        <p:nvSpPr>
          <p:cNvPr id="53" name="Shape 51"/>
          <p:cNvSpPr/>
          <p:nvPr/>
        </p:nvSpPr>
        <p:spPr>
          <a:xfrm>
            <a:off x="4974336" y="3054096"/>
            <a:ext cx="768096" cy="265176"/>
          </a:xfrm>
          <a:prstGeom prst="roundRect">
            <a:avLst>
              <a:gd name="adj" fmla="val 20690"/>
            </a:avLst>
          </a:prstGeom>
          <a:solidFill>
            <a:srgbClr val="F5A623"/>
          </a:solidFill>
          <a:ln w="12700">
            <a:solidFill>
              <a:srgbClr val="F5A623"/>
            </a:solidFill>
            <a:prstDash val="solid"/>
          </a:ln>
        </p:spPr>
      </p:sp>
      <p:sp>
        <p:nvSpPr>
          <p:cNvPr id="54" name="Shape 52"/>
          <p:cNvSpPr/>
          <p:nvPr/>
        </p:nvSpPr>
        <p:spPr>
          <a:xfrm>
            <a:off x="5888736" y="2980944"/>
            <a:ext cx="914400" cy="411480"/>
          </a:xfrm>
          <a:prstGeom prst="rect">
            <a:avLst/>
          </a:prstGeom>
          <a:solidFill>
            <a:srgbClr val="F4F6FB"/>
          </a:solidFill>
          <a:ln w="12700">
            <a:solidFill>
              <a:srgbClr val="E8EEF7"/>
            </a:solidFill>
            <a:prstDash val="solid"/>
          </a:ln>
        </p:spPr>
      </p:sp>
      <p:sp>
        <p:nvSpPr>
          <p:cNvPr id="55" name="Shape 53"/>
          <p:cNvSpPr/>
          <p:nvPr/>
        </p:nvSpPr>
        <p:spPr>
          <a:xfrm>
            <a:off x="5961888" y="3054096"/>
            <a:ext cx="768096" cy="265176"/>
          </a:xfrm>
          <a:prstGeom prst="roundRect">
            <a:avLst>
              <a:gd name="adj" fmla="val 20690"/>
            </a:avLst>
          </a:prstGeom>
          <a:solidFill>
            <a:srgbClr val="F5A623"/>
          </a:solidFill>
          <a:ln w="12700">
            <a:solidFill>
              <a:srgbClr val="F5A623"/>
            </a:solidFill>
            <a:prstDash val="solid"/>
          </a:ln>
        </p:spPr>
      </p:sp>
      <p:sp>
        <p:nvSpPr>
          <p:cNvPr id="56" name="Shape 54"/>
          <p:cNvSpPr/>
          <p:nvPr/>
        </p:nvSpPr>
        <p:spPr>
          <a:xfrm>
            <a:off x="6876288" y="2980944"/>
            <a:ext cx="914400" cy="411480"/>
          </a:xfrm>
          <a:prstGeom prst="rect">
            <a:avLst/>
          </a:prstGeom>
          <a:solidFill>
            <a:srgbClr val="F4F6FB"/>
          </a:solidFill>
          <a:ln w="12700">
            <a:solidFill>
              <a:srgbClr val="E8EEF7"/>
            </a:solidFill>
            <a:prstDash val="solid"/>
          </a:ln>
        </p:spPr>
      </p:sp>
      <p:sp>
        <p:nvSpPr>
          <p:cNvPr id="57" name="Shape 55"/>
          <p:cNvSpPr/>
          <p:nvPr/>
        </p:nvSpPr>
        <p:spPr>
          <a:xfrm>
            <a:off x="6949440" y="3054096"/>
            <a:ext cx="768096" cy="265176"/>
          </a:xfrm>
          <a:prstGeom prst="roundRect">
            <a:avLst>
              <a:gd name="adj" fmla="val 20690"/>
            </a:avLst>
          </a:prstGeom>
          <a:solidFill>
            <a:srgbClr val="F5A623"/>
          </a:solidFill>
          <a:ln w="12700">
            <a:solidFill>
              <a:srgbClr val="F5A623"/>
            </a:solidFill>
            <a:prstDash val="solid"/>
          </a:ln>
        </p:spPr>
      </p:sp>
      <p:sp>
        <p:nvSpPr>
          <p:cNvPr id="58" name="Shape 56"/>
          <p:cNvSpPr/>
          <p:nvPr/>
        </p:nvSpPr>
        <p:spPr>
          <a:xfrm>
            <a:off x="7863840" y="2980944"/>
            <a:ext cx="914400" cy="411480"/>
          </a:xfrm>
          <a:prstGeom prst="rect">
            <a:avLst/>
          </a:prstGeom>
          <a:solidFill>
            <a:srgbClr val="F4F6FB"/>
          </a:solidFill>
          <a:ln w="12700">
            <a:solidFill>
              <a:srgbClr val="E8EEF7"/>
            </a:solidFill>
            <a:prstDash val="solid"/>
          </a:ln>
        </p:spPr>
      </p:sp>
      <p:sp>
        <p:nvSpPr>
          <p:cNvPr id="59" name="Shape 57"/>
          <p:cNvSpPr/>
          <p:nvPr/>
        </p:nvSpPr>
        <p:spPr>
          <a:xfrm>
            <a:off x="274320" y="3502152"/>
            <a:ext cx="2560320" cy="411480"/>
          </a:xfrm>
          <a:prstGeom prst="rect">
            <a:avLst/>
          </a:prstGeom>
          <a:solidFill>
            <a:srgbClr val="FFFFFF"/>
          </a:solidFill>
          <a:ln w="12700">
            <a:solidFill>
              <a:srgbClr val="E8EEF7"/>
            </a:solidFill>
            <a:prstDash val="solid"/>
          </a:ln>
        </p:spPr>
      </p:sp>
      <p:sp>
        <p:nvSpPr>
          <p:cNvPr id="60" name="Text 58"/>
          <p:cNvSpPr/>
          <p:nvPr/>
        </p:nvSpPr>
        <p:spPr>
          <a:xfrm>
            <a:off x="320040" y="3502152"/>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Tests et corrections</a:t>
            </a:r>
            <a:endParaRPr lang="en-US" sz="1050" dirty="0"/>
          </a:p>
        </p:txBody>
      </p:sp>
      <p:sp>
        <p:nvSpPr>
          <p:cNvPr id="61" name="Shape 59"/>
          <p:cNvSpPr/>
          <p:nvPr/>
        </p:nvSpPr>
        <p:spPr>
          <a:xfrm>
            <a:off x="2926080" y="3502152"/>
            <a:ext cx="914400" cy="411480"/>
          </a:xfrm>
          <a:prstGeom prst="rect">
            <a:avLst/>
          </a:prstGeom>
          <a:solidFill>
            <a:srgbClr val="FFFFFF"/>
          </a:solidFill>
          <a:ln w="12700">
            <a:solidFill>
              <a:srgbClr val="E8EEF7"/>
            </a:solidFill>
            <a:prstDash val="solid"/>
          </a:ln>
        </p:spPr>
      </p:sp>
      <p:sp>
        <p:nvSpPr>
          <p:cNvPr id="62" name="Shape 60"/>
          <p:cNvSpPr/>
          <p:nvPr/>
        </p:nvSpPr>
        <p:spPr>
          <a:xfrm>
            <a:off x="3913632" y="3502152"/>
            <a:ext cx="914400" cy="411480"/>
          </a:xfrm>
          <a:prstGeom prst="rect">
            <a:avLst/>
          </a:prstGeom>
          <a:solidFill>
            <a:srgbClr val="FFFFFF"/>
          </a:solidFill>
          <a:ln w="12700">
            <a:solidFill>
              <a:srgbClr val="E8EEF7"/>
            </a:solidFill>
            <a:prstDash val="solid"/>
          </a:ln>
        </p:spPr>
      </p:sp>
      <p:sp>
        <p:nvSpPr>
          <p:cNvPr id="63" name="Shape 61"/>
          <p:cNvSpPr/>
          <p:nvPr/>
        </p:nvSpPr>
        <p:spPr>
          <a:xfrm>
            <a:off x="4901184" y="3502152"/>
            <a:ext cx="914400" cy="411480"/>
          </a:xfrm>
          <a:prstGeom prst="rect">
            <a:avLst/>
          </a:prstGeom>
          <a:solidFill>
            <a:srgbClr val="FFFFFF"/>
          </a:solidFill>
          <a:ln w="12700">
            <a:solidFill>
              <a:srgbClr val="E8EEF7"/>
            </a:solidFill>
            <a:prstDash val="solid"/>
          </a:ln>
        </p:spPr>
      </p:sp>
      <p:sp>
        <p:nvSpPr>
          <p:cNvPr id="64" name="Shape 62"/>
          <p:cNvSpPr/>
          <p:nvPr/>
        </p:nvSpPr>
        <p:spPr>
          <a:xfrm>
            <a:off x="5888736" y="3502152"/>
            <a:ext cx="914400" cy="411480"/>
          </a:xfrm>
          <a:prstGeom prst="rect">
            <a:avLst/>
          </a:prstGeom>
          <a:solidFill>
            <a:srgbClr val="FFFFFF"/>
          </a:solidFill>
          <a:ln w="12700">
            <a:solidFill>
              <a:srgbClr val="E8EEF7"/>
            </a:solidFill>
            <a:prstDash val="solid"/>
          </a:ln>
        </p:spPr>
      </p:sp>
      <p:sp>
        <p:nvSpPr>
          <p:cNvPr id="65" name="Shape 63"/>
          <p:cNvSpPr/>
          <p:nvPr/>
        </p:nvSpPr>
        <p:spPr>
          <a:xfrm>
            <a:off x="6876288" y="3502152"/>
            <a:ext cx="914400" cy="411480"/>
          </a:xfrm>
          <a:prstGeom prst="rect">
            <a:avLst/>
          </a:prstGeom>
          <a:solidFill>
            <a:srgbClr val="FFFFFF"/>
          </a:solidFill>
          <a:ln w="12700">
            <a:solidFill>
              <a:srgbClr val="E8EEF7"/>
            </a:solidFill>
            <a:prstDash val="solid"/>
          </a:ln>
        </p:spPr>
      </p:sp>
      <p:sp>
        <p:nvSpPr>
          <p:cNvPr id="66" name="Shape 64"/>
          <p:cNvSpPr/>
          <p:nvPr/>
        </p:nvSpPr>
        <p:spPr>
          <a:xfrm>
            <a:off x="6949440" y="3575304"/>
            <a:ext cx="768096" cy="265176"/>
          </a:xfrm>
          <a:prstGeom prst="roundRect">
            <a:avLst>
              <a:gd name="adj" fmla="val 20690"/>
            </a:avLst>
          </a:prstGeom>
          <a:solidFill>
            <a:srgbClr val="F5A623"/>
          </a:solidFill>
          <a:ln w="12700">
            <a:solidFill>
              <a:srgbClr val="F5A623"/>
            </a:solidFill>
            <a:prstDash val="solid"/>
          </a:ln>
        </p:spPr>
      </p:sp>
      <p:sp>
        <p:nvSpPr>
          <p:cNvPr id="67" name="Shape 65"/>
          <p:cNvSpPr/>
          <p:nvPr/>
        </p:nvSpPr>
        <p:spPr>
          <a:xfrm>
            <a:off x="7863840" y="3502152"/>
            <a:ext cx="914400" cy="411480"/>
          </a:xfrm>
          <a:prstGeom prst="rect">
            <a:avLst/>
          </a:prstGeom>
          <a:solidFill>
            <a:srgbClr val="FFFFFF"/>
          </a:solidFill>
          <a:ln w="12700">
            <a:solidFill>
              <a:srgbClr val="E8EEF7"/>
            </a:solidFill>
            <a:prstDash val="solid"/>
          </a:ln>
        </p:spPr>
      </p:sp>
      <p:sp>
        <p:nvSpPr>
          <p:cNvPr id="68" name="Shape 66"/>
          <p:cNvSpPr/>
          <p:nvPr/>
        </p:nvSpPr>
        <p:spPr>
          <a:xfrm>
            <a:off x="7936992" y="3575304"/>
            <a:ext cx="768096" cy="265176"/>
          </a:xfrm>
          <a:prstGeom prst="roundRect">
            <a:avLst>
              <a:gd name="adj" fmla="val 20690"/>
            </a:avLst>
          </a:prstGeom>
          <a:solidFill>
            <a:srgbClr val="F5A623"/>
          </a:solidFill>
          <a:ln w="12700">
            <a:solidFill>
              <a:srgbClr val="F5A623"/>
            </a:solidFill>
            <a:prstDash val="solid"/>
          </a:ln>
        </p:spPr>
      </p:sp>
      <p:sp>
        <p:nvSpPr>
          <p:cNvPr id="69" name="Shape 67"/>
          <p:cNvSpPr/>
          <p:nvPr/>
        </p:nvSpPr>
        <p:spPr>
          <a:xfrm>
            <a:off x="274320" y="4023360"/>
            <a:ext cx="2560320" cy="411480"/>
          </a:xfrm>
          <a:prstGeom prst="rect">
            <a:avLst/>
          </a:prstGeom>
          <a:solidFill>
            <a:srgbClr val="F4F6FB"/>
          </a:solidFill>
          <a:ln w="12700">
            <a:solidFill>
              <a:srgbClr val="E8EEF7"/>
            </a:solidFill>
            <a:prstDash val="solid"/>
          </a:ln>
        </p:spPr>
      </p:sp>
      <p:sp>
        <p:nvSpPr>
          <p:cNvPr id="70" name="Text 68"/>
          <p:cNvSpPr/>
          <p:nvPr/>
        </p:nvSpPr>
        <p:spPr>
          <a:xfrm>
            <a:off x="320040" y="4023360"/>
            <a:ext cx="2468880" cy="411480"/>
          </a:xfrm>
          <a:prstGeom prst="rect">
            <a:avLst/>
          </a:prstGeom>
          <a:noFill/>
          <a:ln/>
        </p:spPr>
        <p:txBody>
          <a:bodyPr wrap="square" lIns="0" tIns="0" rIns="0" bIns="0" rtlCol="0" anchor="ctr"/>
          <a:lstStyle/>
          <a:p>
            <a:pPr marL="0" indent="0" algn="l">
              <a:buNone/>
            </a:pPr>
            <a:r>
              <a:rPr lang="en-US" sz="1050" dirty="0">
                <a:solidFill>
                  <a:srgbClr val="1A1F3C"/>
                </a:solidFill>
                <a:latin typeface="Calibri" pitchFamily="34" charset="0"/>
                <a:ea typeface="Calibri" pitchFamily="34" charset="-122"/>
                <a:cs typeface="Calibri" pitchFamily="34" charset="-120"/>
              </a:rPr>
              <a:t>Rédaction du rapport</a:t>
            </a:r>
            <a:endParaRPr lang="en-US" sz="1050" dirty="0"/>
          </a:p>
        </p:txBody>
      </p:sp>
      <p:sp>
        <p:nvSpPr>
          <p:cNvPr id="71" name="Shape 69"/>
          <p:cNvSpPr/>
          <p:nvPr/>
        </p:nvSpPr>
        <p:spPr>
          <a:xfrm>
            <a:off x="2926080" y="4023360"/>
            <a:ext cx="914400" cy="411480"/>
          </a:xfrm>
          <a:prstGeom prst="rect">
            <a:avLst/>
          </a:prstGeom>
          <a:solidFill>
            <a:srgbClr val="F4F6FB"/>
          </a:solidFill>
          <a:ln w="12700">
            <a:solidFill>
              <a:srgbClr val="E8EEF7"/>
            </a:solidFill>
            <a:prstDash val="solid"/>
          </a:ln>
        </p:spPr>
      </p:sp>
      <p:sp>
        <p:nvSpPr>
          <p:cNvPr id="72" name="Shape 70"/>
          <p:cNvSpPr/>
          <p:nvPr/>
        </p:nvSpPr>
        <p:spPr>
          <a:xfrm>
            <a:off x="3913632" y="4023360"/>
            <a:ext cx="914400" cy="411480"/>
          </a:xfrm>
          <a:prstGeom prst="rect">
            <a:avLst/>
          </a:prstGeom>
          <a:solidFill>
            <a:srgbClr val="F4F6FB"/>
          </a:solidFill>
          <a:ln w="12700">
            <a:solidFill>
              <a:srgbClr val="E8EEF7"/>
            </a:solidFill>
            <a:prstDash val="solid"/>
          </a:ln>
        </p:spPr>
      </p:sp>
      <p:sp>
        <p:nvSpPr>
          <p:cNvPr id="73" name="Shape 71"/>
          <p:cNvSpPr/>
          <p:nvPr/>
        </p:nvSpPr>
        <p:spPr>
          <a:xfrm>
            <a:off x="4901184" y="4023360"/>
            <a:ext cx="914400" cy="411480"/>
          </a:xfrm>
          <a:prstGeom prst="rect">
            <a:avLst/>
          </a:prstGeom>
          <a:solidFill>
            <a:srgbClr val="F4F6FB"/>
          </a:solidFill>
          <a:ln w="12700">
            <a:solidFill>
              <a:srgbClr val="E8EEF7"/>
            </a:solidFill>
            <a:prstDash val="solid"/>
          </a:ln>
        </p:spPr>
      </p:sp>
      <p:sp>
        <p:nvSpPr>
          <p:cNvPr id="74" name="Shape 72"/>
          <p:cNvSpPr/>
          <p:nvPr/>
        </p:nvSpPr>
        <p:spPr>
          <a:xfrm>
            <a:off x="5888736" y="4023360"/>
            <a:ext cx="914400" cy="411480"/>
          </a:xfrm>
          <a:prstGeom prst="rect">
            <a:avLst/>
          </a:prstGeom>
          <a:solidFill>
            <a:srgbClr val="F4F6FB"/>
          </a:solidFill>
          <a:ln w="12700">
            <a:solidFill>
              <a:srgbClr val="E8EEF7"/>
            </a:solidFill>
            <a:prstDash val="solid"/>
          </a:ln>
        </p:spPr>
      </p:sp>
      <p:sp>
        <p:nvSpPr>
          <p:cNvPr id="75" name="Shape 73"/>
          <p:cNvSpPr/>
          <p:nvPr/>
        </p:nvSpPr>
        <p:spPr>
          <a:xfrm>
            <a:off x="6876288" y="4023360"/>
            <a:ext cx="914400" cy="411480"/>
          </a:xfrm>
          <a:prstGeom prst="rect">
            <a:avLst/>
          </a:prstGeom>
          <a:solidFill>
            <a:srgbClr val="F4F6FB"/>
          </a:solidFill>
          <a:ln w="12700">
            <a:solidFill>
              <a:srgbClr val="E8EEF7"/>
            </a:solidFill>
            <a:prstDash val="solid"/>
          </a:ln>
        </p:spPr>
      </p:sp>
      <p:sp>
        <p:nvSpPr>
          <p:cNvPr id="76" name="Shape 74"/>
          <p:cNvSpPr/>
          <p:nvPr/>
        </p:nvSpPr>
        <p:spPr>
          <a:xfrm>
            <a:off x="6949440" y="4096512"/>
            <a:ext cx="768096" cy="265176"/>
          </a:xfrm>
          <a:prstGeom prst="roundRect">
            <a:avLst>
              <a:gd name="adj" fmla="val 20690"/>
            </a:avLst>
          </a:prstGeom>
          <a:solidFill>
            <a:srgbClr val="F5A623"/>
          </a:solidFill>
          <a:ln w="12700">
            <a:solidFill>
              <a:srgbClr val="F5A623"/>
            </a:solidFill>
            <a:prstDash val="solid"/>
          </a:ln>
        </p:spPr>
      </p:sp>
      <p:sp>
        <p:nvSpPr>
          <p:cNvPr id="77" name="Shape 75"/>
          <p:cNvSpPr/>
          <p:nvPr/>
        </p:nvSpPr>
        <p:spPr>
          <a:xfrm>
            <a:off x="7863840" y="4023360"/>
            <a:ext cx="914400" cy="411480"/>
          </a:xfrm>
          <a:prstGeom prst="rect">
            <a:avLst/>
          </a:prstGeom>
          <a:solidFill>
            <a:srgbClr val="F4F6FB"/>
          </a:solidFill>
          <a:ln w="12700">
            <a:solidFill>
              <a:srgbClr val="E8EEF7"/>
            </a:solidFill>
            <a:prstDash val="solid"/>
          </a:ln>
        </p:spPr>
      </p:sp>
      <p:sp>
        <p:nvSpPr>
          <p:cNvPr id="78" name="Shape 76"/>
          <p:cNvSpPr/>
          <p:nvPr/>
        </p:nvSpPr>
        <p:spPr>
          <a:xfrm>
            <a:off x="7936992" y="4096512"/>
            <a:ext cx="768096" cy="265176"/>
          </a:xfrm>
          <a:prstGeom prst="roundRect">
            <a:avLst>
              <a:gd name="adj" fmla="val 20690"/>
            </a:avLst>
          </a:prstGeom>
          <a:solidFill>
            <a:srgbClr val="F5A623"/>
          </a:solidFill>
          <a:ln w="12700">
            <a:solidFill>
              <a:srgbClr val="F5A623"/>
            </a:solidFill>
            <a:prstDash val="solid"/>
          </a:ln>
        </p:spPr>
      </p:sp>
      <p:sp>
        <p:nvSpPr>
          <p:cNvPr id="79" name="Shape 77"/>
          <p:cNvSpPr/>
          <p:nvPr/>
        </p:nvSpPr>
        <p:spPr>
          <a:xfrm>
            <a:off x="7132320" y="4297680"/>
            <a:ext cx="320040" cy="228600"/>
          </a:xfrm>
          <a:prstGeom prst="roundRect">
            <a:avLst>
              <a:gd name="adj" fmla="val 16000"/>
            </a:avLst>
          </a:prstGeom>
          <a:solidFill>
            <a:srgbClr val="F5A623"/>
          </a:solidFill>
          <a:ln w="12700">
            <a:solidFill>
              <a:srgbClr val="F5A623"/>
            </a:solidFill>
            <a:prstDash val="solid"/>
          </a:ln>
        </p:spPr>
      </p:sp>
      <p:sp>
        <p:nvSpPr>
          <p:cNvPr id="80" name="Text 78"/>
          <p:cNvSpPr/>
          <p:nvPr/>
        </p:nvSpPr>
        <p:spPr>
          <a:xfrm>
            <a:off x="7498080" y="4297680"/>
            <a:ext cx="1463040" cy="22860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Phase active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03 — Choix techniques</a:t>
            </a:r>
            <a:endParaRPr lang="en-US" sz="2600" dirty="0"/>
          </a:p>
        </p:txBody>
      </p:sp>
      <p:sp>
        <p:nvSpPr>
          <p:cNvPr id="4" name="Shape 2"/>
          <p:cNvSpPr/>
          <p:nvPr/>
        </p:nvSpPr>
        <p:spPr>
          <a:xfrm>
            <a:off x="274320" y="100584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5" name="Shape 3"/>
          <p:cNvSpPr/>
          <p:nvPr/>
        </p:nvSpPr>
        <p:spPr>
          <a:xfrm>
            <a:off x="411480" y="1143000"/>
            <a:ext cx="530352" cy="530352"/>
          </a:xfrm>
          <a:prstGeom prst="roundRect">
            <a:avLst>
              <a:gd name="adj" fmla="val 13793"/>
            </a:avLst>
          </a:prstGeom>
          <a:solidFill>
            <a:srgbClr val="1E2761"/>
          </a:solidFill>
          <a:ln w="12700">
            <a:solidFill>
              <a:srgbClr val="1E2761"/>
            </a:solidFill>
            <a:prstDash val="solid"/>
          </a:ln>
        </p:spPr>
      </p:sp>
      <p:pic>
        <p:nvPicPr>
          <p:cNvPr id="6" name="Image 0" descr="preencoded.png"/>
          <p:cNvPicPr>
            <a:picLocks noChangeAspect="1"/>
          </p:cNvPicPr>
          <p:nvPr/>
        </p:nvPicPr>
        <p:blipFill>
          <a:blip r:embed="rId3"/>
          <a:stretch>
            <a:fillRect/>
          </a:stretch>
        </p:blipFill>
        <p:spPr>
          <a:xfrm>
            <a:off x="475488" y="1207008"/>
            <a:ext cx="301752" cy="301752"/>
          </a:xfrm>
          <a:prstGeom prst="rect">
            <a:avLst/>
          </a:prstGeom>
        </p:spPr>
      </p:pic>
      <p:sp>
        <p:nvSpPr>
          <p:cNvPr id="7" name="Text 4"/>
          <p:cNvSpPr/>
          <p:nvPr/>
        </p:nvSpPr>
        <p:spPr>
          <a:xfrm>
            <a:off x="1051560" y="117043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Laravel</a:t>
            </a:r>
            <a:endParaRPr lang="en-US" sz="1300" dirty="0"/>
          </a:p>
        </p:txBody>
      </p:sp>
      <p:sp>
        <p:nvSpPr>
          <p:cNvPr id="8" name="Text 5"/>
          <p:cNvSpPr/>
          <p:nvPr/>
        </p:nvSpPr>
        <p:spPr>
          <a:xfrm>
            <a:off x="411480" y="175564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Framework PHP pour structurer le backend et appliquer l'architecture MVC</a:t>
            </a:r>
            <a:endParaRPr lang="en-US" sz="1050" dirty="0"/>
          </a:p>
        </p:txBody>
      </p:sp>
      <p:sp>
        <p:nvSpPr>
          <p:cNvPr id="9" name="Shape 6"/>
          <p:cNvSpPr/>
          <p:nvPr/>
        </p:nvSpPr>
        <p:spPr>
          <a:xfrm>
            <a:off x="3200400" y="100584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0" name="Shape 7"/>
          <p:cNvSpPr/>
          <p:nvPr/>
        </p:nvSpPr>
        <p:spPr>
          <a:xfrm>
            <a:off x="3337560" y="1143000"/>
            <a:ext cx="530352" cy="530352"/>
          </a:xfrm>
          <a:prstGeom prst="roundRect">
            <a:avLst>
              <a:gd name="adj" fmla="val 13793"/>
            </a:avLst>
          </a:prstGeom>
          <a:solidFill>
            <a:srgbClr val="1E2761"/>
          </a:solidFill>
          <a:ln w="12700">
            <a:solidFill>
              <a:srgbClr val="1E2761"/>
            </a:solidFill>
            <a:prstDash val="solid"/>
          </a:ln>
        </p:spPr>
      </p:sp>
      <p:pic>
        <p:nvPicPr>
          <p:cNvPr id="11" name="Image 1" descr="preencoded.png"/>
          <p:cNvPicPr>
            <a:picLocks noChangeAspect="1"/>
          </p:cNvPicPr>
          <p:nvPr/>
        </p:nvPicPr>
        <p:blipFill>
          <a:blip r:embed="rId4"/>
          <a:stretch>
            <a:fillRect/>
          </a:stretch>
        </p:blipFill>
        <p:spPr>
          <a:xfrm>
            <a:off x="3401568" y="1207008"/>
            <a:ext cx="301752" cy="301752"/>
          </a:xfrm>
          <a:prstGeom prst="rect">
            <a:avLst/>
          </a:prstGeom>
        </p:spPr>
      </p:pic>
      <p:sp>
        <p:nvSpPr>
          <p:cNvPr id="12" name="Text 8"/>
          <p:cNvSpPr/>
          <p:nvPr/>
        </p:nvSpPr>
        <p:spPr>
          <a:xfrm>
            <a:off x="3977640" y="117043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Eloquent ORM</a:t>
            </a:r>
            <a:endParaRPr lang="en-US" sz="1300" dirty="0"/>
          </a:p>
        </p:txBody>
      </p:sp>
      <p:sp>
        <p:nvSpPr>
          <p:cNvPr id="13" name="Text 9"/>
          <p:cNvSpPr/>
          <p:nvPr/>
        </p:nvSpPr>
        <p:spPr>
          <a:xfrm>
            <a:off x="3337560" y="175564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Gestion des modèles et des relations entre les tables</a:t>
            </a:r>
            <a:endParaRPr lang="en-US" sz="1050" dirty="0"/>
          </a:p>
        </p:txBody>
      </p:sp>
      <p:sp>
        <p:nvSpPr>
          <p:cNvPr id="14" name="Shape 10"/>
          <p:cNvSpPr/>
          <p:nvPr/>
        </p:nvSpPr>
        <p:spPr>
          <a:xfrm>
            <a:off x="6126480" y="100584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5" name="Shape 11"/>
          <p:cNvSpPr/>
          <p:nvPr/>
        </p:nvSpPr>
        <p:spPr>
          <a:xfrm>
            <a:off x="6263640" y="1143000"/>
            <a:ext cx="530352" cy="530352"/>
          </a:xfrm>
          <a:prstGeom prst="roundRect">
            <a:avLst>
              <a:gd name="adj" fmla="val 13793"/>
            </a:avLst>
          </a:prstGeom>
          <a:solidFill>
            <a:srgbClr val="1E2761"/>
          </a:solidFill>
          <a:ln w="12700">
            <a:solidFill>
              <a:srgbClr val="1E2761"/>
            </a:solidFill>
            <a:prstDash val="solid"/>
          </a:ln>
        </p:spPr>
      </p:sp>
      <p:pic>
        <p:nvPicPr>
          <p:cNvPr id="16" name="Image 2" descr="preencoded.png"/>
          <p:cNvPicPr>
            <a:picLocks noChangeAspect="1"/>
          </p:cNvPicPr>
          <p:nvPr/>
        </p:nvPicPr>
        <p:blipFill>
          <a:blip r:embed="rId5"/>
          <a:stretch>
            <a:fillRect/>
          </a:stretch>
        </p:blipFill>
        <p:spPr>
          <a:xfrm>
            <a:off x="6327648" y="1207008"/>
            <a:ext cx="301752" cy="301752"/>
          </a:xfrm>
          <a:prstGeom prst="rect">
            <a:avLst/>
          </a:prstGeom>
        </p:spPr>
      </p:pic>
      <p:sp>
        <p:nvSpPr>
          <p:cNvPr id="17" name="Text 12"/>
          <p:cNvSpPr/>
          <p:nvPr/>
        </p:nvSpPr>
        <p:spPr>
          <a:xfrm>
            <a:off x="6903720" y="117043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Blade</a:t>
            </a:r>
            <a:endParaRPr lang="en-US" sz="1300" dirty="0"/>
          </a:p>
        </p:txBody>
      </p:sp>
      <p:sp>
        <p:nvSpPr>
          <p:cNvPr id="18" name="Text 13"/>
          <p:cNvSpPr/>
          <p:nvPr/>
        </p:nvSpPr>
        <p:spPr>
          <a:xfrm>
            <a:off x="6263640" y="175564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Moteur de templates pour les vues web</a:t>
            </a:r>
            <a:endParaRPr lang="en-US" sz="1050" dirty="0"/>
          </a:p>
        </p:txBody>
      </p:sp>
      <p:sp>
        <p:nvSpPr>
          <p:cNvPr id="19" name="Shape 14"/>
          <p:cNvSpPr/>
          <p:nvPr/>
        </p:nvSpPr>
        <p:spPr>
          <a:xfrm>
            <a:off x="274320" y="292608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0" name="Shape 15"/>
          <p:cNvSpPr/>
          <p:nvPr/>
        </p:nvSpPr>
        <p:spPr>
          <a:xfrm>
            <a:off x="411480" y="3063240"/>
            <a:ext cx="530352" cy="530352"/>
          </a:xfrm>
          <a:prstGeom prst="roundRect">
            <a:avLst>
              <a:gd name="adj" fmla="val 13793"/>
            </a:avLst>
          </a:prstGeom>
          <a:solidFill>
            <a:srgbClr val="1E2761"/>
          </a:solidFill>
          <a:ln w="12700">
            <a:solidFill>
              <a:srgbClr val="1E2761"/>
            </a:solidFill>
            <a:prstDash val="solid"/>
          </a:ln>
        </p:spPr>
      </p:sp>
      <p:pic>
        <p:nvPicPr>
          <p:cNvPr id="21" name="Image 3" descr="preencoded.png"/>
          <p:cNvPicPr>
            <a:picLocks noChangeAspect="1"/>
          </p:cNvPicPr>
          <p:nvPr/>
        </p:nvPicPr>
        <p:blipFill>
          <a:blip r:embed="rId6"/>
          <a:stretch>
            <a:fillRect/>
          </a:stretch>
        </p:blipFill>
        <p:spPr>
          <a:xfrm>
            <a:off x="475488" y="3127248"/>
            <a:ext cx="301752" cy="301752"/>
          </a:xfrm>
          <a:prstGeom prst="rect">
            <a:avLst/>
          </a:prstGeom>
        </p:spPr>
      </p:pic>
      <p:sp>
        <p:nvSpPr>
          <p:cNvPr id="22" name="Text 16"/>
          <p:cNvSpPr/>
          <p:nvPr/>
        </p:nvSpPr>
        <p:spPr>
          <a:xfrm>
            <a:off x="1051560" y="309067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Service Pattern</a:t>
            </a:r>
            <a:endParaRPr lang="en-US" sz="1300" dirty="0"/>
          </a:p>
        </p:txBody>
      </p:sp>
      <p:sp>
        <p:nvSpPr>
          <p:cNvPr id="23" name="Text 17"/>
          <p:cNvSpPr/>
          <p:nvPr/>
        </p:nvSpPr>
        <p:spPr>
          <a:xfrm>
            <a:off x="411480" y="367588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Séparation des logiques métier dans FrontendContentService et ContactMessageService</a:t>
            </a:r>
            <a:endParaRPr lang="en-US" sz="1050" dirty="0"/>
          </a:p>
        </p:txBody>
      </p:sp>
      <p:sp>
        <p:nvSpPr>
          <p:cNvPr id="24" name="Shape 18"/>
          <p:cNvSpPr/>
          <p:nvPr/>
        </p:nvSpPr>
        <p:spPr>
          <a:xfrm>
            <a:off x="3200400" y="292608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5" name="Shape 19"/>
          <p:cNvSpPr/>
          <p:nvPr/>
        </p:nvSpPr>
        <p:spPr>
          <a:xfrm>
            <a:off x="3337560" y="3063240"/>
            <a:ext cx="530352" cy="530352"/>
          </a:xfrm>
          <a:prstGeom prst="roundRect">
            <a:avLst>
              <a:gd name="adj" fmla="val 13793"/>
            </a:avLst>
          </a:prstGeom>
          <a:solidFill>
            <a:srgbClr val="1E2761"/>
          </a:solidFill>
          <a:ln w="12700">
            <a:solidFill>
              <a:srgbClr val="1E2761"/>
            </a:solidFill>
            <a:prstDash val="solid"/>
          </a:ln>
        </p:spPr>
      </p:sp>
      <p:pic>
        <p:nvPicPr>
          <p:cNvPr id="26" name="Image 4" descr="preencoded.png"/>
          <p:cNvPicPr>
            <a:picLocks noChangeAspect="1"/>
          </p:cNvPicPr>
          <p:nvPr/>
        </p:nvPicPr>
        <p:blipFill>
          <a:blip r:embed="rId7"/>
          <a:stretch>
            <a:fillRect/>
          </a:stretch>
        </p:blipFill>
        <p:spPr>
          <a:xfrm>
            <a:off x="3401568" y="3127248"/>
            <a:ext cx="301752" cy="301752"/>
          </a:xfrm>
          <a:prstGeom prst="rect">
            <a:avLst/>
          </a:prstGeom>
        </p:spPr>
      </p:pic>
      <p:sp>
        <p:nvSpPr>
          <p:cNvPr id="27" name="Text 20"/>
          <p:cNvSpPr/>
          <p:nvPr/>
        </p:nvSpPr>
        <p:spPr>
          <a:xfrm>
            <a:off x="3977640" y="309067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Routes Web &amp; API</a:t>
            </a:r>
            <a:endParaRPr lang="en-US" sz="1300" dirty="0"/>
          </a:p>
        </p:txBody>
      </p:sp>
      <p:sp>
        <p:nvSpPr>
          <p:cNvPr id="28" name="Text 21"/>
          <p:cNvSpPr/>
          <p:nvPr/>
        </p:nvSpPr>
        <p:spPr>
          <a:xfrm>
            <a:off x="3337560" y="367588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Organisation des points d'entrée publics, protégés et API</a:t>
            </a:r>
            <a:endParaRPr lang="en-US" sz="1050" dirty="0"/>
          </a:p>
        </p:txBody>
      </p:sp>
      <p:sp>
        <p:nvSpPr>
          <p:cNvPr id="29" name="Shape 22"/>
          <p:cNvSpPr/>
          <p:nvPr/>
        </p:nvSpPr>
        <p:spPr>
          <a:xfrm>
            <a:off x="6126480" y="2926080"/>
            <a:ext cx="2743200" cy="1691640"/>
          </a:xfrm>
          <a:prstGeom prst="roundRect">
            <a:avLst>
              <a:gd name="adj" fmla="val 6486"/>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30" name="Shape 23"/>
          <p:cNvSpPr/>
          <p:nvPr/>
        </p:nvSpPr>
        <p:spPr>
          <a:xfrm>
            <a:off x="6263640" y="3063240"/>
            <a:ext cx="530352" cy="530352"/>
          </a:xfrm>
          <a:prstGeom prst="roundRect">
            <a:avLst>
              <a:gd name="adj" fmla="val 13793"/>
            </a:avLst>
          </a:prstGeom>
          <a:solidFill>
            <a:srgbClr val="1E2761"/>
          </a:solidFill>
          <a:ln w="12700">
            <a:solidFill>
              <a:srgbClr val="1E2761"/>
            </a:solidFill>
            <a:prstDash val="solid"/>
          </a:ln>
        </p:spPr>
      </p:sp>
      <p:pic>
        <p:nvPicPr>
          <p:cNvPr id="31" name="Image 5" descr="preencoded.png"/>
          <p:cNvPicPr>
            <a:picLocks noChangeAspect="1"/>
          </p:cNvPicPr>
          <p:nvPr/>
        </p:nvPicPr>
        <p:blipFill>
          <a:blip r:embed="rId8"/>
          <a:stretch>
            <a:fillRect/>
          </a:stretch>
        </p:blipFill>
        <p:spPr>
          <a:xfrm>
            <a:off x="6327648" y="3127248"/>
            <a:ext cx="301752" cy="301752"/>
          </a:xfrm>
          <a:prstGeom prst="rect">
            <a:avLst/>
          </a:prstGeom>
        </p:spPr>
      </p:pic>
      <p:sp>
        <p:nvSpPr>
          <p:cNvPr id="32" name="Text 24"/>
          <p:cNvSpPr/>
          <p:nvPr/>
        </p:nvSpPr>
        <p:spPr>
          <a:xfrm>
            <a:off x="6903720" y="3090672"/>
            <a:ext cx="1828800" cy="384048"/>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Base de données</a:t>
            </a:r>
            <a:endParaRPr lang="en-US" sz="1300" dirty="0"/>
          </a:p>
        </p:txBody>
      </p:sp>
      <p:sp>
        <p:nvSpPr>
          <p:cNvPr id="33" name="Text 25"/>
          <p:cNvSpPr/>
          <p:nvPr/>
        </p:nvSpPr>
        <p:spPr>
          <a:xfrm>
            <a:off x="6263640" y="3675888"/>
            <a:ext cx="2468880" cy="822960"/>
          </a:xfrm>
          <a:prstGeom prst="rect">
            <a:avLst/>
          </a:prstGeom>
          <a:noFill/>
          <a:ln/>
        </p:spPr>
        <p:txBody>
          <a:bodyPr wrap="square" lIns="0" tIns="0" rIns="0" bIns="0" rtlCol="0" anchor="t"/>
          <a:lstStyle/>
          <a:p>
            <a:pPr marL="0" indent="0" algn="l">
              <a:buNone/>
            </a:pPr>
            <a:r>
              <a:rPr lang="en-US" sz="1050" dirty="0">
                <a:solidFill>
                  <a:srgbClr val="64748B"/>
                </a:solidFill>
                <a:latin typeface="Calibri" pitchFamily="34" charset="0"/>
                <a:ea typeface="Calibri" pitchFamily="34" charset="-122"/>
                <a:cs typeface="Calibri" pitchFamily="34" charset="-120"/>
              </a:rPr>
              <a:t>Stockage relationnel des utilisateurs, services, publications et métiers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03 — Scénario principal : Inscription Travailleur</a:t>
            </a:r>
            <a:endParaRPr lang="en-US" sz="2200" dirty="0"/>
          </a:p>
        </p:txBody>
      </p:sp>
      <p:sp>
        <p:nvSpPr>
          <p:cNvPr id="4" name="Shape 2"/>
          <p:cNvSpPr/>
          <p:nvPr/>
        </p:nvSpPr>
        <p:spPr>
          <a:xfrm>
            <a:off x="274320" y="1005840"/>
            <a:ext cx="2011680" cy="3520440"/>
          </a:xfrm>
          <a:prstGeom prst="roundRect">
            <a:avLst>
              <a:gd name="adj" fmla="val 5455"/>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5" name="Shape 3"/>
          <p:cNvSpPr/>
          <p:nvPr/>
        </p:nvSpPr>
        <p:spPr>
          <a:xfrm>
            <a:off x="960120" y="1143000"/>
            <a:ext cx="640080" cy="640080"/>
          </a:xfrm>
          <a:prstGeom prst="ellipse">
            <a:avLst/>
          </a:prstGeom>
          <a:solidFill>
            <a:srgbClr val="1E2761"/>
          </a:solidFill>
          <a:ln w="12700">
            <a:solidFill>
              <a:srgbClr val="1E2761"/>
            </a:solidFill>
            <a:prstDash val="solid"/>
          </a:ln>
        </p:spPr>
      </p:sp>
      <p:sp>
        <p:nvSpPr>
          <p:cNvPr id="6" name="Text 4"/>
          <p:cNvSpPr/>
          <p:nvPr/>
        </p:nvSpPr>
        <p:spPr>
          <a:xfrm>
            <a:off x="960120" y="1143000"/>
            <a:ext cx="640080" cy="640080"/>
          </a:xfrm>
          <a:prstGeom prst="rect">
            <a:avLst/>
          </a:prstGeom>
          <a:noFill/>
          <a:ln/>
        </p:spPr>
        <p:txBody>
          <a:bodyPr wrap="square" lIns="0" tIns="0" rIns="0" bIns="0" rtlCol="0" anchor="ctr"/>
          <a:lstStyle/>
          <a:p>
            <a:pPr marL="0" indent="0" algn="ctr">
              <a:buNone/>
            </a:pPr>
            <a:r>
              <a:rPr lang="en-US" sz="2200" b="1" dirty="0">
                <a:solidFill>
                  <a:srgbClr val="F5A623"/>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822960" y="1920240"/>
            <a:ext cx="914400" cy="914400"/>
          </a:xfrm>
          <a:prstGeom prst="roundRect">
            <a:avLst>
              <a:gd name="adj" fmla="val 10000"/>
            </a:avLst>
          </a:prstGeom>
          <a:solidFill>
            <a:srgbClr val="E8EEF7"/>
          </a:solidFill>
          <a:ln w="12700">
            <a:solidFill>
              <a:srgbClr val="E8EEF7"/>
            </a:solidFill>
            <a:prstDash val="solid"/>
          </a:ln>
        </p:spPr>
      </p:sp>
      <p:pic>
        <p:nvPicPr>
          <p:cNvPr id="8" name="Image 0" descr="preencoded.png"/>
          <p:cNvPicPr>
            <a:picLocks noChangeAspect="1"/>
          </p:cNvPicPr>
          <p:nvPr/>
        </p:nvPicPr>
        <p:blipFill>
          <a:blip r:embed="rId3"/>
          <a:stretch>
            <a:fillRect/>
          </a:stretch>
        </p:blipFill>
        <p:spPr>
          <a:xfrm>
            <a:off x="914400" y="2011680"/>
            <a:ext cx="640080" cy="640080"/>
          </a:xfrm>
          <a:prstGeom prst="rect">
            <a:avLst/>
          </a:prstGeom>
        </p:spPr>
      </p:pic>
      <p:sp>
        <p:nvSpPr>
          <p:cNvPr id="9" name="Text 6"/>
          <p:cNvSpPr/>
          <p:nvPr/>
        </p:nvSpPr>
        <p:spPr>
          <a:xfrm>
            <a:off x="365760" y="2971800"/>
            <a:ext cx="1828800" cy="411480"/>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Saisie du formulaire</a:t>
            </a:r>
            <a:endParaRPr lang="en-US" sz="1200" dirty="0"/>
          </a:p>
        </p:txBody>
      </p:sp>
      <p:sp>
        <p:nvSpPr>
          <p:cNvPr id="10" name="Text 7"/>
          <p:cNvSpPr/>
          <p:nvPr/>
        </p:nvSpPr>
        <p:spPr>
          <a:xfrm>
            <a:off x="365760" y="3429000"/>
            <a:ext cx="1828800" cy="10058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Informations personnelles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Sélection statut travailleur</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Ajout obligatoire des métiers</a:t>
            </a:r>
            <a:endParaRPr lang="en-US" sz="1000" dirty="0"/>
          </a:p>
        </p:txBody>
      </p:sp>
      <p:sp>
        <p:nvSpPr>
          <p:cNvPr id="11" name="Shape 8"/>
          <p:cNvSpPr/>
          <p:nvPr/>
        </p:nvSpPr>
        <p:spPr>
          <a:xfrm>
            <a:off x="2331720" y="2743200"/>
            <a:ext cx="91440" cy="0"/>
          </a:xfrm>
          <a:prstGeom prst="line">
            <a:avLst/>
          </a:prstGeom>
          <a:noFill/>
          <a:ln w="12700">
            <a:solidFill>
              <a:srgbClr val="F5A623"/>
            </a:solidFill>
            <a:prstDash val="solid"/>
          </a:ln>
        </p:spPr>
      </p:sp>
      <p:sp>
        <p:nvSpPr>
          <p:cNvPr id="12" name="Shape 9"/>
          <p:cNvSpPr/>
          <p:nvPr/>
        </p:nvSpPr>
        <p:spPr>
          <a:xfrm>
            <a:off x="2450592" y="1005840"/>
            <a:ext cx="2011680" cy="3520440"/>
          </a:xfrm>
          <a:prstGeom prst="roundRect">
            <a:avLst>
              <a:gd name="adj" fmla="val 5455"/>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13" name="Shape 10"/>
          <p:cNvSpPr/>
          <p:nvPr/>
        </p:nvSpPr>
        <p:spPr>
          <a:xfrm>
            <a:off x="3136392" y="1143000"/>
            <a:ext cx="640080" cy="640080"/>
          </a:xfrm>
          <a:prstGeom prst="ellipse">
            <a:avLst/>
          </a:prstGeom>
          <a:solidFill>
            <a:srgbClr val="1E2761"/>
          </a:solidFill>
          <a:ln w="12700">
            <a:solidFill>
              <a:srgbClr val="1E2761"/>
            </a:solidFill>
            <a:prstDash val="solid"/>
          </a:ln>
        </p:spPr>
      </p:sp>
      <p:sp>
        <p:nvSpPr>
          <p:cNvPr id="14" name="Text 11"/>
          <p:cNvSpPr/>
          <p:nvPr/>
        </p:nvSpPr>
        <p:spPr>
          <a:xfrm>
            <a:off x="3136392" y="1143000"/>
            <a:ext cx="640080" cy="640080"/>
          </a:xfrm>
          <a:prstGeom prst="rect">
            <a:avLst/>
          </a:prstGeom>
          <a:noFill/>
          <a:ln/>
        </p:spPr>
        <p:txBody>
          <a:bodyPr wrap="square" lIns="0" tIns="0" rIns="0" bIns="0" rtlCol="0" anchor="ctr"/>
          <a:lstStyle/>
          <a:p>
            <a:pPr marL="0" indent="0" algn="ctr">
              <a:buNone/>
            </a:pPr>
            <a:r>
              <a:rPr lang="en-US" sz="2200" b="1" dirty="0">
                <a:solidFill>
                  <a:srgbClr val="F5A623"/>
                </a:solidFill>
                <a:latin typeface="Cambria" pitchFamily="34" charset="0"/>
                <a:ea typeface="Cambria" pitchFamily="34" charset="-122"/>
                <a:cs typeface="Cambria" pitchFamily="34" charset="-120"/>
              </a:rPr>
              <a:t>2</a:t>
            </a:r>
            <a:endParaRPr lang="en-US" sz="2200" dirty="0"/>
          </a:p>
        </p:txBody>
      </p:sp>
      <p:sp>
        <p:nvSpPr>
          <p:cNvPr id="15" name="Shape 12"/>
          <p:cNvSpPr/>
          <p:nvPr/>
        </p:nvSpPr>
        <p:spPr>
          <a:xfrm>
            <a:off x="2999232" y="1920240"/>
            <a:ext cx="914400" cy="914400"/>
          </a:xfrm>
          <a:prstGeom prst="roundRect">
            <a:avLst>
              <a:gd name="adj" fmla="val 10000"/>
            </a:avLst>
          </a:prstGeom>
          <a:solidFill>
            <a:srgbClr val="E8EEF7"/>
          </a:solidFill>
          <a:ln w="12700">
            <a:solidFill>
              <a:srgbClr val="E8EEF7"/>
            </a:solidFill>
            <a:prstDash val="solid"/>
          </a:ln>
        </p:spPr>
      </p:sp>
      <p:pic>
        <p:nvPicPr>
          <p:cNvPr id="16" name="Image 1" descr="preencoded.png"/>
          <p:cNvPicPr>
            <a:picLocks noChangeAspect="1"/>
          </p:cNvPicPr>
          <p:nvPr/>
        </p:nvPicPr>
        <p:blipFill>
          <a:blip r:embed="rId4"/>
          <a:stretch>
            <a:fillRect/>
          </a:stretch>
        </p:blipFill>
        <p:spPr>
          <a:xfrm>
            <a:off x="3090672" y="2011680"/>
            <a:ext cx="640080" cy="640080"/>
          </a:xfrm>
          <a:prstGeom prst="rect">
            <a:avLst/>
          </a:prstGeom>
        </p:spPr>
      </p:pic>
      <p:sp>
        <p:nvSpPr>
          <p:cNvPr id="17" name="Text 13"/>
          <p:cNvSpPr/>
          <p:nvPr/>
        </p:nvSpPr>
        <p:spPr>
          <a:xfrm>
            <a:off x="2542032" y="2971800"/>
            <a:ext cx="1828800" cy="411480"/>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Validation &amp; Transaction</a:t>
            </a:r>
            <a:endParaRPr lang="en-US" sz="1200" dirty="0"/>
          </a:p>
        </p:txBody>
      </p:sp>
      <p:sp>
        <p:nvSpPr>
          <p:cNvPr id="18" name="Text 14"/>
          <p:cNvSpPr/>
          <p:nvPr/>
        </p:nvSpPr>
        <p:spPr>
          <a:xfrm>
            <a:off x="2542032" y="3429000"/>
            <a:ext cx="1828800" cy="10058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Vérification email/mot de passe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DB::transaction()</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Création User + ClientJob(s)</a:t>
            </a:r>
            <a:endParaRPr lang="en-US" sz="1000" dirty="0"/>
          </a:p>
        </p:txBody>
      </p:sp>
      <p:sp>
        <p:nvSpPr>
          <p:cNvPr id="19" name="Shape 15"/>
          <p:cNvSpPr/>
          <p:nvPr/>
        </p:nvSpPr>
        <p:spPr>
          <a:xfrm>
            <a:off x="4507992" y="2743200"/>
            <a:ext cx="91440" cy="0"/>
          </a:xfrm>
          <a:prstGeom prst="line">
            <a:avLst/>
          </a:prstGeom>
          <a:noFill/>
          <a:ln w="12700">
            <a:solidFill>
              <a:srgbClr val="F5A623"/>
            </a:solidFill>
            <a:prstDash val="solid"/>
          </a:ln>
        </p:spPr>
      </p:sp>
      <p:sp>
        <p:nvSpPr>
          <p:cNvPr id="20" name="Shape 16"/>
          <p:cNvSpPr/>
          <p:nvPr/>
        </p:nvSpPr>
        <p:spPr>
          <a:xfrm>
            <a:off x="4626864" y="1005840"/>
            <a:ext cx="2011680" cy="3520440"/>
          </a:xfrm>
          <a:prstGeom prst="roundRect">
            <a:avLst>
              <a:gd name="adj" fmla="val 5455"/>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1" name="Shape 17"/>
          <p:cNvSpPr/>
          <p:nvPr/>
        </p:nvSpPr>
        <p:spPr>
          <a:xfrm>
            <a:off x="5312664" y="1143000"/>
            <a:ext cx="640080" cy="640080"/>
          </a:xfrm>
          <a:prstGeom prst="ellipse">
            <a:avLst/>
          </a:prstGeom>
          <a:solidFill>
            <a:srgbClr val="1E2761"/>
          </a:solidFill>
          <a:ln w="12700">
            <a:solidFill>
              <a:srgbClr val="1E2761"/>
            </a:solidFill>
            <a:prstDash val="solid"/>
          </a:ln>
        </p:spPr>
      </p:sp>
      <p:sp>
        <p:nvSpPr>
          <p:cNvPr id="22" name="Text 18"/>
          <p:cNvSpPr/>
          <p:nvPr/>
        </p:nvSpPr>
        <p:spPr>
          <a:xfrm>
            <a:off x="5312664" y="1143000"/>
            <a:ext cx="640080" cy="640080"/>
          </a:xfrm>
          <a:prstGeom prst="rect">
            <a:avLst/>
          </a:prstGeom>
          <a:noFill/>
          <a:ln/>
        </p:spPr>
        <p:txBody>
          <a:bodyPr wrap="square" lIns="0" tIns="0" rIns="0" bIns="0" rtlCol="0" anchor="ctr"/>
          <a:lstStyle/>
          <a:p>
            <a:pPr marL="0" indent="0" algn="ctr">
              <a:buNone/>
            </a:pPr>
            <a:r>
              <a:rPr lang="en-US" sz="2200" b="1" dirty="0">
                <a:solidFill>
                  <a:srgbClr val="F5A623"/>
                </a:solidFill>
                <a:latin typeface="Cambria" pitchFamily="34" charset="0"/>
                <a:ea typeface="Cambria" pitchFamily="34" charset="-122"/>
                <a:cs typeface="Cambria" pitchFamily="34" charset="-120"/>
              </a:rPr>
              <a:t>3</a:t>
            </a:r>
            <a:endParaRPr lang="en-US" sz="2200" dirty="0"/>
          </a:p>
        </p:txBody>
      </p:sp>
      <p:sp>
        <p:nvSpPr>
          <p:cNvPr id="23" name="Shape 19"/>
          <p:cNvSpPr/>
          <p:nvPr/>
        </p:nvSpPr>
        <p:spPr>
          <a:xfrm>
            <a:off x="5175504" y="1920240"/>
            <a:ext cx="914400" cy="914400"/>
          </a:xfrm>
          <a:prstGeom prst="roundRect">
            <a:avLst>
              <a:gd name="adj" fmla="val 10000"/>
            </a:avLst>
          </a:prstGeom>
          <a:solidFill>
            <a:srgbClr val="E8EEF7"/>
          </a:solidFill>
          <a:ln w="12700">
            <a:solidFill>
              <a:srgbClr val="E8EEF7"/>
            </a:solidFill>
            <a:prstDash val="solid"/>
          </a:ln>
        </p:spPr>
      </p:sp>
      <p:pic>
        <p:nvPicPr>
          <p:cNvPr id="24" name="Image 2" descr="preencoded.png"/>
          <p:cNvPicPr>
            <a:picLocks noChangeAspect="1"/>
          </p:cNvPicPr>
          <p:nvPr/>
        </p:nvPicPr>
        <p:blipFill>
          <a:blip r:embed="rId5"/>
          <a:stretch>
            <a:fillRect/>
          </a:stretch>
        </p:blipFill>
        <p:spPr>
          <a:xfrm>
            <a:off x="5266944" y="2011680"/>
            <a:ext cx="640080" cy="640080"/>
          </a:xfrm>
          <a:prstGeom prst="rect">
            <a:avLst/>
          </a:prstGeom>
        </p:spPr>
      </p:pic>
      <p:sp>
        <p:nvSpPr>
          <p:cNvPr id="25" name="Text 20"/>
          <p:cNvSpPr/>
          <p:nvPr/>
        </p:nvSpPr>
        <p:spPr>
          <a:xfrm>
            <a:off x="4718304" y="2971800"/>
            <a:ext cx="1828800" cy="411480"/>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Connexion automatique</a:t>
            </a:r>
            <a:endParaRPr lang="en-US" sz="1200" dirty="0"/>
          </a:p>
        </p:txBody>
      </p:sp>
      <p:sp>
        <p:nvSpPr>
          <p:cNvPr id="26" name="Text 21"/>
          <p:cNvSpPr/>
          <p:nvPr/>
        </p:nvSpPr>
        <p:spPr>
          <a:xfrm>
            <a:off x="4718304" y="3429000"/>
            <a:ext cx="1828800" cy="10058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Auth::login()</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Régénération session</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Redirection vers /home</a:t>
            </a:r>
            <a:endParaRPr lang="en-US" sz="1000" dirty="0"/>
          </a:p>
        </p:txBody>
      </p:sp>
      <p:sp>
        <p:nvSpPr>
          <p:cNvPr id="27" name="Shape 22"/>
          <p:cNvSpPr/>
          <p:nvPr/>
        </p:nvSpPr>
        <p:spPr>
          <a:xfrm>
            <a:off x="6684264" y="2743200"/>
            <a:ext cx="91440" cy="0"/>
          </a:xfrm>
          <a:prstGeom prst="line">
            <a:avLst/>
          </a:prstGeom>
          <a:noFill/>
          <a:ln w="12700">
            <a:solidFill>
              <a:srgbClr val="F5A623"/>
            </a:solidFill>
            <a:prstDash val="solid"/>
          </a:ln>
        </p:spPr>
      </p:sp>
      <p:sp>
        <p:nvSpPr>
          <p:cNvPr id="28" name="Shape 23"/>
          <p:cNvSpPr/>
          <p:nvPr/>
        </p:nvSpPr>
        <p:spPr>
          <a:xfrm>
            <a:off x="6803136" y="1005840"/>
            <a:ext cx="2011680" cy="3520440"/>
          </a:xfrm>
          <a:prstGeom prst="roundRect">
            <a:avLst>
              <a:gd name="adj" fmla="val 5455"/>
            </a:avLst>
          </a:prstGeom>
          <a:solidFill>
            <a:srgbClr val="FFFFFF"/>
          </a:solidFill>
          <a:ln w="12700">
            <a:solidFill>
              <a:srgbClr val="E8EEF7"/>
            </a:solidFill>
            <a:prstDash val="solid"/>
          </a:ln>
          <a:effectLst>
            <a:outerShdw blurRad="101600" dist="38100" dir="2700000" algn="bl" rotWithShape="0">
              <a:srgbClr val="000000">
                <a:alpha val="12000"/>
              </a:srgbClr>
            </a:outerShdw>
          </a:effectLst>
        </p:spPr>
      </p:sp>
      <p:sp>
        <p:nvSpPr>
          <p:cNvPr id="29" name="Shape 24"/>
          <p:cNvSpPr/>
          <p:nvPr/>
        </p:nvSpPr>
        <p:spPr>
          <a:xfrm>
            <a:off x="7488936" y="1143000"/>
            <a:ext cx="640080" cy="640080"/>
          </a:xfrm>
          <a:prstGeom prst="ellipse">
            <a:avLst/>
          </a:prstGeom>
          <a:solidFill>
            <a:srgbClr val="1E2761"/>
          </a:solidFill>
          <a:ln w="12700">
            <a:solidFill>
              <a:srgbClr val="1E2761"/>
            </a:solidFill>
            <a:prstDash val="solid"/>
          </a:ln>
        </p:spPr>
      </p:sp>
      <p:sp>
        <p:nvSpPr>
          <p:cNvPr id="30" name="Text 25"/>
          <p:cNvSpPr/>
          <p:nvPr/>
        </p:nvSpPr>
        <p:spPr>
          <a:xfrm>
            <a:off x="7488936" y="1143000"/>
            <a:ext cx="640080" cy="640080"/>
          </a:xfrm>
          <a:prstGeom prst="rect">
            <a:avLst/>
          </a:prstGeom>
          <a:noFill/>
          <a:ln/>
        </p:spPr>
        <p:txBody>
          <a:bodyPr wrap="square" lIns="0" tIns="0" rIns="0" bIns="0" rtlCol="0" anchor="ctr"/>
          <a:lstStyle/>
          <a:p>
            <a:pPr marL="0" indent="0" algn="ctr">
              <a:buNone/>
            </a:pPr>
            <a:r>
              <a:rPr lang="en-US" sz="2200" b="1" dirty="0">
                <a:solidFill>
                  <a:srgbClr val="F5A623"/>
                </a:solidFill>
                <a:latin typeface="Cambria" pitchFamily="34" charset="0"/>
                <a:ea typeface="Cambria" pitchFamily="34" charset="-122"/>
                <a:cs typeface="Cambria" pitchFamily="34" charset="-120"/>
              </a:rPr>
              <a:t>4</a:t>
            </a:r>
            <a:endParaRPr lang="en-US" sz="2200" dirty="0"/>
          </a:p>
        </p:txBody>
      </p:sp>
      <p:sp>
        <p:nvSpPr>
          <p:cNvPr id="31" name="Shape 26"/>
          <p:cNvSpPr/>
          <p:nvPr/>
        </p:nvSpPr>
        <p:spPr>
          <a:xfrm>
            <a:off x="7351776" y="1920240"/>
            <a:ext cx="914400" cy="914400"/>
          </a:xfrm>
          <a:prstGeom prst="roundRect">
            <a:avLst>
              <a:gd name="adj" fmla="val 10000"/>
            </a:avLst>
          </a:prstGeom>
          <a:solidFill>
            <a:srgbClr val="E8EEF7"/>
          </a:solidFill>
          <a:ln w="12700">
            <a:solidFill>
              <a:srgbClr val="E8EEF7"/>
            </a:solidFill>
            <a:prstDash val="solid"/>
          </a:ln>
        </p:spPr>
      </p:sp>
      <p:pic>
        <p:nvPicPr>
          <p:cNvPr id="32" name="Image 3" descr="preencoded.png"/>
          <p:cNvPicPr>
            <a:picLocks noChangeAspect="1"/>
          </p:cNvPicPr>
          <p:nvPr/>
        </p:nvPicPr>
        <p:blipFill>
          <a:blip r:embed="rId6"/>
          <a:stretch>
            <a:fillRect/>
          </a:stretch>
        </p:blipFill>
        <p:spPr>
          <a:xfrm>
            <a:off x="7443216" y="2011680"/>
            <a:ext cx="640080" cy="640080"/>
          </a:xfrm>
          <a:prstGeom prst="rect">
            <a:avLst/>
          </a:prstGeom>
        </p:spPr>
      </p:pic>
      <p:sp>
        <p:nvSpPr>
          <p:cNvPr id="33" name="Text 27"/>
          <p:cNvSpPr/>
          <p:nvPr/>
        </p:nvSpPr>
        <p:spPr>
          <a:xfrm>
            <a:off x="6894576" y="2971800"/>
            <a:ext cx="1828800" cy="411480"/>
          </a:xfrm>
          <a:prstGeom prst="rect">
            <a:avLst/>
          </a:prstGeom>
          <a:noFill/>
          <a:ln/>
        </p:spPr>
        <p:txBody>
          <a:bodyPr wrap="square" lIns="0" tIns="0" rIns="0" bIns="0" rtlCol="0" anchor="ctr"/>
          <a:lstStyle/>
          <a:p>
            <a:pPr marL="0" indent="0" algn="ctr">
              <a:buNone/>
            </a:pPr>
            <a:r>
              <a:rPr lang="en-US" sz="1200" b="1" dirty="0">
                <a:solidFill>
                  <a:srgbClr val="1E2761"/>
                </a:solidFill>
                <a:latin typeface="Cambria" pitchFamily="34" charset="0"/>
                <a:ea typeface="Cambria" pitchFamily="34" charset="-122"/>
                <a:cs typeface="Cambria" pitchFamily="34" charset="-120"/>
              </a:rPr>
              <a:t>Page prestataires</a:t>
            </a:r>
            <a:endParaRPr lang="en-US" sz="1200" dirty="0"/>
          </a:p>
        </p:txBody>
      </p:sp>
      <p:sp>
        <p:nvSpPr>
          <p:cNvPr id="34" name="Text 28"/>
          <p:cNvSpPr/>
          <p:nvPr/>
        </p:nvSpPr>
        <p:spPr>
          <a:xfrm>
            <a:off x="6894576" y="3429000"/>
            <a:ext cx="1828800" cy="100584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Chargement travailleurs (manjob)</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with('clientJobs')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Affichage dynamique des métiers</a:t>
            </a:r>
            <a:endParaRPr lang="en-US" sz="1000" dirty="0"/>
          </a:p>
        </p:txBody>
      </p:sp>
      <p:sp>
        <p:nvSpPr>
          <p:cNvPr id="35" name="Shape 29"/>
          <p:cNvSpPr/>
          <p:nvPr/>
        </p:nvSpPr>
        <p:spPr>
          <a:xfrm>
            <a:off x="274320" y="4663440"/>
            <a:ext cx="8595360" cy="347472"/>
          </a:xfrm>
          <a:prstGeom prst="roundRect">
            <a:avLst>
              <a:gd name="adj" fmla="val 21053"/>
            </a:avLst>
          </a:prstGeom>
          <a:solidFill>
            <a:srgbClr val="2E7D5B"/>
          </a:solidFill>
          <a:ln w="12700">
            <a:solidFill>
              <a:srgbClr val="2E7D5B"/>
            </a:solidFill>
            <a:prstDash val="solid"/>
          </a:ln>
        </p:spPr>
      </p:sp>
      <p:sp>
        <p:nvSpPr>
          <p:cNvPr id="36" name="Text 30"/>
          <p:cNvSpPr/>
          <p:nvPr/>
        </p:nvSpPr>
        <p:spPr>
          <a:xfrm>
            <a:off x="365760" y="4663440"/>
            <a:ext cx="84124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Le travailleur est connecté et visible dans la liste des prestataires avec ses métiers associés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A1F3C"/>
          </a:solidFill>
          <a:ln w="12700">
            <a:solidFill>
              <a:srgbClr val="1A1F3C"/>
            </a:solidFill>
            <a:prstDash val="solid"/>
          </a:ln>
        </p:spPr>
      </p:sp>
      <p:sp>
        <p:nvSpPr>
          <p:cNvPr id="3" name="Text 1"/>
          <p:cNvSpPr/>
          <p:nvPr/>
        </p:nvSpPr>
        <p:spPr>
          <a:xfrm>
            <a:off x="457200" y="182880"/>
            <a:ext cx="822960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Conclusion &amp; Perspectives</a:t>
            </a:r>
            <a:endParaRPr lang="en-US" sz="3000" dirty="0"/>
          </a:p>
        </p:txBody>
      </p:sp>
      <p:sp>
        <p:nvSpPr>
          <p:cNvPr id="4" name="Shape 2"/>
          <p:cNvSpPr/>
          <p:nvPr/>
        </p:nvSpPr>
        <p:spPr>
          <a:xfrm>
            <a:off x="274320" y="1188720"/>
            <a:ext cx="3931920" cy="3474720"/>
          </a:xfrm>
          <a:prstGeom prst="roundRect">
            <a:avLst>
              <a:gd name="adj" fmla="val 3158"/>
            </a:avLst>
          </a:prstGeom>
          <a:solidFill>
            <a:srgbClr val="2A3580"/>
          </a:solidFill>
          <a:ln w="12700">
            <a:solidFill>
              <a:srgbClr val="2952A3"/>
            </a:solidFill>
            <a:prstDash val="solid"/>
          </a:ln>
        </p:spPr>
      </p:sp>
      <p:sp>
        <p:nvSpPr>
          <p:cNvPr id="5" name="Text 3"/>
          <p:cNvSpPr/>
          <p:nvPr/>
        </p:nvSpPr>
        <p:spPr>
          <a:xfrm>
            <a:off x="457200" y="1371600"/>
            <a:ext cx="3566160" cy="411480"/>
          </a:xfrm>
          <a:prstGeom prst="rect">
            <a:avLst/>
          </a:prstGeom>
          <a:noFill/>
          <a:ln/>
        </p:spPr>
        <p:txBody>
          <a:bodyPr wrap="square" lIns="0" tIns="0" rIns="0" bIns="0" rtlCol="0" anchor="ctr"/>
          <a:lstStyle/>
          <a:p>
            <a:pPr marL="0" indent="0" algn="l">
              <a:buNone/>
            </a:pPr>
            <a:r>
              <a:rPr lang="en-US" sz="1600" b="1" dirty="0">
                <a:solidFill>
                  <a:srgbClr val="F5A623"/>
                </a:solidFill>
                <a:latin typeface="Cambria" pitchFamily="34" charset="0"/>
                <a:ea typeface="Cambria" pitchFamily="34" charset="-122"/>
                <a:cs typeface="Cambria" pitchFamily="34" charset="-120"/>
              </a:rPr>
              <a:t>Bilan du projet</a:t>
            </a:r>
            <a:endParaRPr lang="en-US" sz="1600" dirty="0"/>
          </a:p>
        </p:txBody>
      </p:sp>
      <p:pic>
        <p:nvPicPr>
          <p:cNvPr id="6" name="Image 0" descr="preencoded.png"/>
          <p:cNvPicPr>
            <a:picLocks noChangeAspect="1"/>
          </p:cNvPicPr>
          <p:nvPr/>
        </p:nvPicPr>
        <p:blipFill>
          <a:blip r:embed="rId3"/>
          <a:stretch>
            <a:fillRect/>
          </a:stretch>
        </p:blipFill>
        <p:spPr>
          <a:xfrm>
            <a:off x="457200" y="1901952"/>
            <a:ext cx="201168" cy="201168"/>
          </a:xfrm>
          <a:prstGeom prst="rect">
            <a:avLst/>
          </a:prstGeom>
        </p:spPr>
      </p:pic>
      <p:sp>
        <p:nvSpPr>
          <p:cNvPr id="7" name="Text 4"/>
          <p:cNvSpPr/>
          <p:nvPr/>
        </p:nvSpPr>
        <p:spPr>
          <a:xfrm>
            <a:off x="731520" y="1874520"/>
            <a:ext cx="32918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Plateforme MVC structurée et maintenable</a:t>
            </a:r>
            <a:endParaRPr lang="en-US" sz="1100" dirty="0"/>
          </a:p>
        </p:txBody>
      </p:sp>
      <p:pic>
        <p:nvPicPr>
          <p:cNvPr id="8" name="Image 1" descr="preencoded.png"/>
          <p:cNvPicPr>
            <a:picLocks noChangeAspect="1"/>
          </p:cNvPicPr>
          <p:nvPr/>
        </p:nvPicPr>
        <p:blipFill>
          <a:blip r:embed="rId3"/>
          <a:stretch>
            <a:fillRect/>
          </a:stretch>
        </p:blipFill>
        <p:spPr>
          <a:xfrm>
            <a:off x="457200" y="2359152"/>
            <a:ext cx="201168" cy="201168"/>
          </a:xfrm>
          <a:prstGeom prst="rect">
            <a:avLst/>
          </a:prstGeom>
        </p:spPr>
      </p:pic>
      <p:sp>
        <p:nvSpPr>
          <p:cNvPr id="9" name="Text 5"/>
          <p:cNvSpPr/>
          <p:nvPr/>
        </p:nvSpPr>
        <p:spPr>
          <a:xfrm>
            <a:off x="731520" y="2331720"/>
            <a:ext cx="32918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Conception UML complète (UC, classes, séquence)</a:t>
            </a:r>
            <a:endParaRPr lang="en-US" sz="1100" dirty="0"/>
          </a:p>
        </p:txBody>
      </p:sp>
      <p:pic>
        <p:nvPicPr>
          <p:cNvPr id="10" name="Image 2" descr="preencoded.png"/>
          <p:cNvPicPr>
            <a:picLocks noChangeAspect="1"/>
          </p:cNvPicPr>
          <p:nvPr/>
        </p:nvPicPr>
        <p:blipFill>
          <a:blip r:embed="rId3"/>
          <a:stretch>
            <a:fillRect/>
          </a:stretch>
        </p:blipFill>
        <p:spPr>
          <a:xfrm>
            <a:off x="457200" y="2816352"/>
            <a:ext cx="201168" cy="201168"/>
          </a:xfrm>
          <a:prstGeom prst="rect">
            <a:avLst/>
          </a:prstGeom>
        </p:spPr>
      </p:pic>
      <p:sp>
        <p:nvSpPr>
          <p:cNvPr id="11" name="Text 6"/>
          <p:cNvSpPr/>
          <p:nvPr/>
        </p:nvSpPr>
        <p:spPr>
          <a:xfrm>
            <a:off x="731520" y="2788920"/>
            <a:ext cx="32918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Authentification et gestion des rôles</a:t>
            </a:r>
            <a:endParaRPr lang="en-US" sz="1100" dirty="0"/>
          </a:p>
        </p:txBody>
      </p:sp>
      <p:pic>
        <p:nvPicPr>
          <p:cNvPr id="12" name="Image 3" descr="preencoded.png"/>
          <p:cNvPicPr>
            <a:picLocks noChangeAspect="1"/>
          </p:cNvPicPr>
          <p:nvPr/>
        </p:nvPicPr>
        <p:blipFill>
          <a:blip r:embed="rId3"/>
          <a:stretch>
            <a:fillRect/>
          </a:stretch>
        </p:blipFill>
        <p:spPr>
          <a:xfrm>
            <a:off x="457200" y="3273552"/>
            <a:ext cx="201168" cy="201168"/>
          </a:xfrm>
          <a:prstGeom prst="rect">
            <a:avLst/>
          </a:prstGeom>
        </p:spPr>
      </p:pic>
      <p:sp>
        <p:nvSpPr>
          <p:cNvPr id="13" name="Text 7"/>
          <p:cNvSpPr/>
          <p:nvPr/>
        </p:nvSpPr>
        <p:spPr>
          <a:xfrm>
            <a:off x="731520" y="3246120"/>
            <a:ext cx="32918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Couche Services pour isoler la logique métier</a:t>
            </a:r>
            <a:endParaRPr lang="en-US" sz="1100" dirty="0"/>
          </a:p>
        </p:txBody>
      </p:sp>
      <p:pic>
        <p:nvPicPr>
          <p:cNvPr id="14" name="Image 4" descr="preencoded.png"/>
          <p:cNvPicPr>
            <a:picLocks noChangeAspect="1"/>
          </p:cNvPicPr>
          <p:nvPr/>
        </p:nvPicPr>
        <p:blipFill>
          <a:blip r:embed="rId3"/>
          <a:stretch>
            <a:fillRect/>
          </a:stretch>
        </p:blipFill>
        <p:spPr>
          <a:xfrm>
            <a:off x="457200" y="3730752"/>
            <a:ext cx="201168" cy="201168"/>
          </a:xfrm>
          <a:prstGeom prst="rect">
            <a:avLst/>
          </a:prstGeom>
        </p:spPr>
      </p:pic>
      <p:sp>
        <p:nvSpPr>
          <p:cNvPr id="15" name="Text 8"/>
          <p:cNvSpPr/>
          <p:nvPr/>
        </p:nvSpPr>
        <p:spPr>
          <a:xfrm>
            <a:off x="731520" y="3703320"/>
            <a:ext cx="3291840" cy="347472"/>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Inscription travailleur avec transaction DB</a:t>
            </a:r>
            <a:endParaRPr lang="en-US" sz="1100" dirty="0"/>
          </a:p>
        </p:txBody>
      </p:sp>
      <p:sp>
        <p:nvSpPr>
          <p:cNvPr id="16" name="Shape 9"/>
          <p:cNvSpPr/>
          <p:nvPr/>
        </p:nvSpPr>
        <p:spPr>
          <a:xfrm>
            <a:off x="4480560" y="1188720"/>
            <a:ext cx="4389120" cy="3474720"/>
          </a:xfrm>
          <a:prstGeom prst="roundRect">
            <a:avLst>
              <a:gd name="adj" fmla="val 3158"/>
            </a:avLst>
          </a:prstGeom>
          <a:solidFill>
            <a:srgbClr val="2A3580"/>
          </a:solidFill>
          <a:ln w="12700">
            <a:solidFill>
              <a:srgbClr val="2952A3"/>
            </a:solidFill>
            <a:prstDash val="solid"/>
          </a:ln>
        </p:spPr>
      </p:sp>
      <p:sp>
        <p:nvSpPr>
          <p:cNvPr id="17" name="Text 10"/>
          <p:cNvSpPr/>
          <p:nvPr/>
        </p:nvSpPr>
        <p:spPr>
          <a:xfrm>
            <a:off x="4663440" y="1371600"/>
            <a:ext cx="4023360" cy="411480"/>
          </a:xfrm>
          <a:prstGeom prst="rect">
            <a:avLst/>
          </a:prstGeom>
          <a:noFill/>
          <a:ln/>
        </p:spPr>
        <p:txBody>
          <a:bodyPr wrap="square" lIns="0" tIns="0" rIns="0" bIns="0" rtlCol="0" anchor="ctr"/>
          <a:lstStyle/>
          <a:p>
            <a:pPr marL="0" indent="0" algn="l">
              <a:buNone/>
            </a:pPr>
            <a:r>
              <a:rPr lang="en-US" sz="1600" b="1" dirty="0">
                <a:solidFill>
                  <a:srgbClr val="F5A623"/>
                </a:solidFill>
                <a:latin typeface="Cambria" pitchFamily="34" charset="0"/>
                <a:ea typeface="Cambria" pitchFamily="34" charset="-122"/>
                <a:cs typeface="Cambria" pitchFamily="34" charset="-120"/>
              </a:rPr>
              <a:t>Perspectives d'évolution</a:t>
            </a:r>
            <a:endParaRPr lang="en-US" sz="1600" dirty="0"/>
          </a:p>
        </p:txBody>
      </p:sp>
      <p:sp>
        <p:nvSpPr>
          <p:cNvPr id="18" name="Shape 11"/>
          <p:cNvSpPr/>
          <p:nvPr/>
        </p:nvSpPr>
        <p:spPr>
          <a:xfrm>
            <a:off x="4663440" y="1920240"/>
            <a:ext cx="182880" cy="182880"/>
          </a:xfrm>
          <a:prstGeom prst="ellipse">
            <a:avLst/>
          </a:prstGeom>
          <a:solidFill>
            <a:srgbClr val="F5A623"/>
          </a:solidFill>
          <a:ln w="12700">
            <a:solidFill>
              <a:srgbClr val="F5A623"/>
            </a:solidFill>
            <a:prstDash val="solid"/>
          </a:ln>
        </p:spPr>
      </p:sp>
      <p:sp>
        <p:nvSpPr>
          <p:cNvPr id="19" name="Text 12"/>
          <p:cNvSpPr/>
          <p:nvPr/>
        </p:nvSpPr>
        <p:spPr>
          <a:xfrm>
            <a:off x="4956048" y="1856232"/>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Messagerie interne client ↔ prestataire</a:t>
            </a:r>
            <a:endParaRPr lang="en-US" sz="1050" dirty="0"/>
          </a:p>
        </p:txBody>
      </p:sp>
      <p:sp>
        <p:nvSpPr>
          <p:cNvPr id="20" name="Shape 13"/>
          <p:cNvSpPr/>
          <p:nvPr/>
        </p:nvSpPr>
        <p:spPr>
          <a:xfrm>
            <a:off x="4663440" y="2340864"/>
            <a:ext cx="182880" cy="182880"/>
          </a:xfrm>
          <a:prstGeom prst="ellipse">
            <a:avLst/>
          </a:prstGeom>
          <a:solidFill>
            <a:srgbClr val="F5A623"/>
          </a:solidFill>
          <a:ln w="12700">
            <a:solidFill>
              <a:srgbClr val="F5A623"/>
            </a:solidFill>
            <a:prstDash val="solid"/>
          </a:ln>
        </p:spPr>
      </p:sp>
      <p:sp>
        <p:nvSpPr>
          <p:cNvPr id="21" name="Text 14"/>
          <p:cNvSpPr/>
          <p:nvPr/>
        </p:nvSpPr>
        <p:spPr>
          <a:xfrm>
            <a:off x="4956048" y="2276856"/>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Système d'avis et de notation</a:t>
            </a:r>
            <a:endParaRPr lang="en-US" sz="1050" dirty="0"/>
          </a:p>
        </p:txBody>
      </p:sp>
      <p:sp>
        <p:nvSpPr>
          <p:cNvPr id="22" name="Shape 15"/>
          <p:cNvSpPr/>
          <p:nvPr/>
        </p:nvSpPr>
        <p:spPr>
          <a:xfrm>
            <a:off x="4663440" y="2761488"/>
            <a:ext cx="182880" cy="182880"/>
          </a:xfrm>
          <a:prstGeom prst="ellipse">
            <a:avLst/>
          </a:prstGeom>
          <a:solidFill>
            <a:srgbClr val="F5A623"/>
          </a:solidFill>
          <a:ln w="12700">
            <a:solidFill>
              <a:srgbClr val="F5A623"/>
            </a:solidFill>
            <a:prstDash val="solid"/>
          </a:ln>
        </p:spPr>
      </p:sp>
      <p:sp>
        <p:nvSpPr>
          <p:cNvPr id="23" name="Text 16"/>
          <p:cNvSpPr/>
          <p:nvPr/>
        </p:nvSpPr>
        <p:spPr>
          <a:xfrm>
            <a:off x="4956048" y="2697480"/>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Notifications en temps réel</a:t>
            </a:r>
            <a:endParaRPr lang="en-US" sz="1050" dirty="0"/>
          </a:p>
        </p:txBody>
      </p:sp>
      <p:sp>
        <p:nvSpPr>
          <p:cNvPr id="24" name="Shape 17"/>
          <p:cNvSpPr/>
          <p:nvPr/>
        </p:nvSpPr>
        <p:spPr>
          <a:xfrm>
            <a:off x="4663440" y="3182112"/>
            <a:ext cx="182880" cy="182880"/>
          </a:xfrm>
          <a:prstGeom prst="ellipse">
            <a:avLst/>
          </a:prstGeom>
          <a:solidFill>
            <a:srgbClr val="F5A623"/>
          </a:solidFill>
          <a:ln w="12700">
            <a:solidFill>
              <a:srgbClr val="F5A623"/>
            </a:solidFill>
            <a:prstDash val="solid"/>
          </a:ln>
        </p:spPr>
      </p:sp>
      <p:sp>
        <p:nvSpPr>
          <p:cNvPr id="25" name="Text 18"/>
          <p:cNvSpPr/>
          <p:nvPr/>
        </p:nvSpPr>
        <p:spPr>
          <a:xfrm>
            <a:off x="4956048" y="3118104"/>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Recherche avancée par métier/service</a:t>
            </a:r>
            <a:endParaRPr lang="en-US" sz="1050" dirty="0"/>
          </a:p>
        </p:txBody>
      </p:sp>
      <p:sp>
        <p:nvSpPr>
          <p:cNvPr id="26" name="Shape 19"/>
          <p:cNvSpPr/>
          <p:nvPr/>
        </p:nvSpPr>
        <p:spPr>
          <a:xfrm>
            <a:off x="4663440" y="3602736"/>
            <a:ext cx="182880" cy="182880"/>
          </a:xfrm>
          <a:prstGeom prst="ellipse">
            <a:avLst/>
          </a:prstGeom>
          <a:solidFill>
            <a:srgbClr val="F5A623"/>
          </a:solidFill>
          <a:ln w="12700">
            <a:solidFill>
              <a:srgbClr val="F5A623"/>
            </a:solidFill>
            <a:prstDash val="solid"/>
          </a:ln>
        </p:spPr>
      </p:sp>
      <p:sp>
        <p:nvSpPr>
          <p:cNvPr id="27" name="Text 20"/>
          <p:cNvSpPr/>
          <p:nvPr/>
        </p:nvSpPr>
        <p:spPr>
          <a:xfrm>
            <a:off x="4956048" y="3538728"/>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Gestion complète des demandes de devis</a:t>
            </a:r>
            <a:endParaRPr lang="en-US" sz="1050" dirty="0"/>
          </a:p>
        </p:txBody>
      </p:sp>
      <p:sp>
        <p:nvSpPr>
          <p:cNvPr id="28" name="Shape 21"/>
          <p:cNvSpPr/>
          <p:nvPr/>
        </p:nvSpPr>
        <p:spPr>
          <a:xfrm>
            <a:off x="4663440" y="4023360"/>
            <a:ext cx="182880" cy="182880"/>
          </a:xfrm>
          <a:prstGeom prst="ellipse">
            <a:avLst/>
          </a:prstGeom>
          <a:solidFill>
            <a:srgbClr val="F5A623"/>
          </a:solidFill>
          <a:ln w="12700">
            <a:solidFill>
              <a:srgbClr val="F5A623"/>
            </a:solidFill>
            <a:prstDash val="solid"/>
          </a:ln>
        </p:spPr>
      </p:sp>
      <p:sp>
        <p:nvSpPr>
          <p:cNvPr id="29" name="Text 22"/>
          <p:cNvSpPr/>
          <p:nvPr/>
        </p:nvSpPr>
        <p:spPr>
          <a:xfrm>
            <a:off x="4956048" y="3959352"/>
            <a:ext cx="3749040" cy="32004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Paiement et facturation en ligne</a:t>
            </a:r>
            <a:endParaRPr lang="en-US" sz="1050" dirty="0"/>
          </a:p>
        </p:txBody>
      </p:sp>
      <p:sp>
        <p:nvSpPr>
          <p:cNvPr id="30" name="Text 23"/>
          <p:cNvSpPr/>
          <p:nvPr/>
        </p:nvSpPr>
        <p:spPr>
          <a:xfrm>
            <a:off x="457200" y="4663440"/>
            <a:ext cx="8229600" cy="365760"/>
          </a:xfrm>
          <a:prstGeom prst="rect">
            <a:avLst/>
          </a:prstGeom>
          <a:noFill/>
          <a:ln/>
        </p:spPr>
        <p:txBody>
          <a:bodyPr wrap="square" lIns="0" tIns="0" rIns="0" bIns="0" rtlCol="0" anchor="ctr"/>
          <a:lstStyle/>
          <a:p>
            <a:pPr marL="0" indent="0" algn="ctr">
              <a:buNone/>
            </a:pPr>
            <a:r>
              <a:rPr lang="en-US" sz="1600" i="1" dirty="0">
                <a:solidFill>
                  <a:srgbClr val="CADCFC"/>
                </a:solidFill>
                <a:latin typeface="Cambria" pitchFamily="34" charset="0"/>
                <a:ea typeface="Cambria" pitchFamily="34" charset="-122"/>
                <a:cs typeface="Cambria" pitchFamily="34" charset="-120"/>
              </a:rPr>
              <a:t>Merci de votre attention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724</Words>
  <Application>Microsoft Office PowerPoint</Application>
  <PresentationFormat>On-screen Show (16:9)</PresentationFormat>
  <Paragraphs>194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PFF - Projet de Fin de Formation</dc:title>
  <dc:subject>PptxGenJS Presentation</dc:subject>
  <dc:creator>PptxGenJS</dc:creator>
  <cp:lastModifiedBy>Med-Amine</cp:lastModifiedBy>
  <cp:revision>3</cp:revision>
  <dcterms:created xsi:type="dcterms:W3CDTF">2026-06-09T19:47:01Z</dcterms:created>
  <dcterms:modified xsi:type="dcterms:W3CDTF">2026-06-09T22:06:24Z</dcterms:modified>
</cp:coreProperties>
</file>